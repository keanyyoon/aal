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822960"/>
            <a:ext cx="146304" cy="146304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3716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심리 UX 방법론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접속이 아니라 '사고 습관'을 리텐션하라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고리텐션 AI Agent·에듀테크·습관형 서비스 시장 통찰  ×  심리학·철학 기반  ×  AAL 적용 전략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  ·  AAL Agent/UX 임원 보고  ·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답: 시장, 심리학, 그리고 AAL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1024128"/>
          </a:xfrm>
          <a:prstGeom prst="roundRect">
            <a:avLst>
              <a:gd name="adj" fmla="val 535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438912" cy="438912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64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시장의 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755648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리텐션의 승부처는 애착의 깊이가 아니라 '습관 빈도 + 메모리 락인'. ChatGPT는 게이미피케이션 없이 DAU/MAU 36%·12개월 리텐션 50%(a16z). 일 2시간 애착을 만든 Character.AI는 소송·규제로 되돌아왔다.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8138160" cy="1024128"/>
          </a:xfrm>
          <a:prstGeom prst="roundRect">
            <a:avLst>
              <a:gd name="adj" fmla="val 535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834640"/>
            <a:ext cx="438912" cy="438912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6517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심리학의 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926080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조건부 외적 보상은 내적 동기를 훼손한다(Deci 메타분석). 학술적으로 방어 가능한 조합은 정보적 피드백(SDT) + 생산적 실패 + 습관 과학 — AAL의 소크라틱 철학과 정확히 일치한다.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12464"/>
            <a:ext cx="8138160" cy="1024128"/>
          </a:xfrm>
          <a:prstGeom prst="roundRect">
            <a:avLst>
              <a:gd name="adj" fmla="val 5357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4005072"/>
            <a:ext cx="438912" cy="438912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38221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AAL의 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096512"/>
            <a:ext cx="7040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LUMEN 5원칙으로 방법론화 → 파일럿 P0 기능 5개 도출 → 북극성 지표 '사고 복귀율'. 참여와 성과가 정렬된 설계는 2026 규제 환경에서 그 자체로 차별화 자산이 된다.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RESEARCH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어떻게 조사했는가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128016" cy="128016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72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938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18개 해부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6 — ChatGPT·Character.AI 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에듀테크 7 — Duolingo·Khanmigo 등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습관형 6 — Strava·Forest·Apple 링 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664208"/>
            <a:ext cx="128016" cy="128016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572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938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심리학 이론 13개 검증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SDT·Flow·손실회피·목표구배·과잉정당화·생산적 실패·습관 과학·파라소셜 등을 메타분석 기준으로 근거 등급화 — '무엇을 인용해도 되는가'까지 판정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06040" cy="283464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664208"/>
            <a:ext cx="128016" cy="128016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5727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93852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규제·윤리 4개 권역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194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DSA 미성년자 가이드라인(2025.7) · 영국 아동 코드 · 미국 KIDS Act(2026.6 하원 통과) · 한국 다크패턴 규제(2025.2 시행)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60여 건 출처 — 자사 발표 / 제3자 데이터(a16z·Sensor Tower) / 동료심사 학술 연구를 구분 표기해 신뢰도 관리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통찰 1 — AI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애착보다 습관, 습관보다 메모리</a:t>
            </a:r>
            <a:endParaRPr lang="en-US" sz="2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383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리텐션 엔진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DAU/MAU 36% · 12개월 리텐션 50% · 23주차 상승 커브 (a16z)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유틸리티 습관 + 메모리 락인 — 게이미피케이션 없음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Character.AI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평균 2시간 · 4주 리텐션 ~48%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캐릭터 애착 + 다층 메모리(핀 메모리를 과금 레버로)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Replika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 ~70개 메시지 (미검증)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관계 게이미피케이션 — 감정 조종형 훅으로 규제 직면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33분 · 주간 복귀 60% (자사)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고EQ 대화 — 그러나 사업 정체로 몰락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4주 리텐션 ~41% · 파워유저 참여 최상위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워크플로 락인 — 감정 장치 의도적 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2245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13203F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4224528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통찰  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빈도가 깊이를 이긴다  ② 메모리가 새로운 락인이다  ③ 감정 애착 리텐션은 부채다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통찰 2 — DUOLINGO 해부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성공의 실체는 '단일 북극성 지표 + 수백 개 실험의 누적'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3619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+21%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075688" y="149961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CURR 4년 누적 개선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075688" y="193852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활성 유저의 익일 복귀율 — DAU 영향력이 2위 지표의 5배라 채택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3619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4.5x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236208" y="149961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DAU 성장 (동기간)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36208" y="193852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스트릭·알림·위젯 등 수십 개 중소형 개선의 합산 결과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86207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+17%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075688" y="2825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학습 시간 (리그 도입)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075688" y="326440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'참여 수준이 비슷한 유저끼리' 매칭이 성공 요인 — 고몰입 학습자 3배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3977640" cy="1188720"/>
          </a:xfrm>
          <a:prstGeom prst="roundRect">
            <a:avLst>
              <a:gd name="adj" fmla="val 461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2862072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+22%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236208" y="2825496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레슨 완료 확률 (Friend Streak)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36208" y="3264408"/>
            <a:ext cx="226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개인적 손실회피를 '친구를 실망시키지 않기'라는 사회적 책무로 확장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16052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그림자  </a:t>
            </a:r>
            <a:pPr indent="0" marL="0">
              <a:buNone/>
            </a:pPr>
            <a:r>
              <a:rPr lang="en-US" sz="11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스트릭이 목적이 되는 'performative learning' · 아동의 스트릭 상실 불안 · 다크패턴 비판 축적 — "학습은 부산물"이라는 PM 발언이 논쟁의 상징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통찰 3 — 실패의 계보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참여와 학습 성과가 분리되는 순간, 리스크가 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344168"/>
          </a:xfrm>
          <a:prstGeom prst="roundRect">
            <a:avLst>
              <a:gd name="adj" fmla="val 408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91056"/>
            <a:ext cx="109728" cy="10972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Character.AI — 애착의 청구서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미성년자 사망 소송 → 18세 미만 개방형 챗 금지(2025.10) → Google 합의(2026.1). Common Sense Media: 소셜 AI 컴패니언은 '18세 미만 수용 불가 위험'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3977640" cy="1344168"/>
          </a:xfrm>
          <a:prstGeom prst="roundRect">
            <a:avLst>
              <a:gd name="adj" fmla="val 408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64608" y="1591056"/>
            <a:ext cx="109728" cy="10972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10" name="Text 8"/>
          <p:cNvSpPr/>
          <p:nvPr/>
        </p:nvSpPr>
        <p:spPr>
          <a:xfrm>
            <a:off x="5074920" y="149961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Lumosity — 효능 없는 참여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64608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게이미피케이션 완성도는 높았으나 근거 없는 효능 주장으로 FTC 벌금 $2M(2016). 참여 장치가 정교해도 학습 근거가 무너지면 규제 리스크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852928"/>
            <a:ext cx="3977640" cy="1344168"/>
          </a:xfrm>
          <a:prstGeom prst="roundRect">
            <a:avLst>
              <a:gd name="adj" fmla="val 408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3072384"/>
            <a:ext cx="109728" cy="10972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980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Todoist Karma — 허수 포인트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4088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 사용자와 비사용자의 작업 완료율이 사실상 동일(62.3% vs 62.1%), 포인트 파밍만 증가 — 지표가 실질과 분리된 게이미피케이션의 전형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852928"/>
            <a:ext cx="3977640" cy="1344168"/>
          </a:xfrm>
          <a:prstGeom prst="roundRect">
            <a:avLst>
              <a:gd name="adj" fmla="val 4082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64608" y="3072384"/>
            <a:ext cx="109728" cy="10972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18" name="Text 16"/>
          <p:cNvSpPr/>
          <p:nvPr/>
        </p:nvSpPr>
        <p:spPr>
          <a:xfrm>
            <a:off x="5074920" y="29809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Khanmigo — 습관 없는 교수법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64608" y="32918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소크라틱 철학은 AAL과 가장 유사하나 참여·습관 장치 부재로 시장 반응은 'non-event' 평가 — 교수법만으로는 리텐션이 만들어지지 않는다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44348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교훈: AAL의 KATE 인증·3축 방법론(실증된 교수법)과 참여 설계를 '한 몸'으로 묶는 것이 유일한 안전 경로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통찰 4 — 습관형 서비스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서비스로 이식 가능한 5가지 패턴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첫날의 성취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377440" y="1353312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Nike Run Club: 첫날 achievement 달성 유저 리텐션 33.4% vs 미달성 20.5% (+64%)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355080" y="13533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세션에서 성취 1개를 '보장'하라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1168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관계에 묶인 습관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377440" y="2011680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커뮤니티형 Insight Timer의 D30 리텐션(16%)이 Headspace(7.65%)·Calm(8.34%)의 2배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5080" y="2011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하는 스트릭보다 관계에 묶인 학습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670048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700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키운 것의 손실회피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77440" y="267004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Forest: 이탈하면 '내가 키운 나무'가 시듦 + 실제 나무 심기 200만 그루로 의미 부여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5080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처벌 없이 작동하는 손실회피 + 의미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328416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2841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미완성 + 용서 장치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3328416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링: 폐쇄 욕구·목표구배 활용, 단 watchOS 11에서 '일시정지' 도입해 부작용 보완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55080" y="332841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쉬어가기는 선택이 아니라 필수 세트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2920" y="3986784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98678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 서사 결산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377440" y="3986784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Spotify Wrapped·Strava Year in Sport: 데이터를 '나의 이야기'로 — 정체성 강화 + 공유 확산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39867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결산 지표는 실제 학습 성과와 연동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통찰 종합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리텐션은 3층으로 만들어진다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03520" cy="822960"/>
          </a:xfrm>
          <a:prstGeom prst="roundRect">
            <a:avLst>
              <a:gd name="adj" fmla="val 6667"/>
            </a:avLst>
          </a:prstGeom>
          <a:solidFill>
            <a:srgbClr val="13203F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44752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3F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80160" y="1463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남게 하는 힘 — Identity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739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축적된 메모리 · 성장 서사 · '나는 이런 사람'이라는 정체성   |   ChatGPT 메모리 · NRC 배지 · Wrapped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2304288"/>
            <a:ext cx="5806440" cy="822960"/>
          </a:xfrm>
          <a:prstGeom prst="roundRect">
            <a:avLst>
              <a:gd name="adj" fmla="val 6667"/>
            </a:avLst>
          </a:prstGeom>
          <a:solidFill>
            <a:srgbClr val="2E4470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377440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2F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23957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머물게 하는 힘 — Engagement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70662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난이도의 몰입 · 페르소나 상호작용 · 진행 가시화   |   Character.AI · Apple 링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3236976"/>
            <a:ext cx="6309360" cy="822960"/>
          </a:xfrm>
          <a:prstGeom prst="roundRect">
            <a:avLst>
              <a:gd name="adj" fmla="val 6667"/>
            </a:avLst>
          </a:prstGeom>
          <a:solidFill>
            <a:srgbClr val="53699A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3310128"/>
            <a:ext cx="5486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1F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328416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오게 만드는 힘 — Habit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363931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단서 · 최소 행동 단위 · 스트릭 + 용서 장치   |   Duolingo · Forest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03720" y="1371600"/>
            <a:ext cx="1737360" cy="2688336"/>
          </a:xfrm>
          <a:prstGeom prst="roundRect">
            <a:avLst>
              <a:gd name="adj" fmla="val 3158"/>
            </a:avLst>
          </a:prstGeom>
          <a:solidFill>
            <a:srgbClr val="FBF3DF"/>
          </a:solidFill>
          <a:ln/>
        </p:spPr>
      </p:sp>
      <p:sp>
        <p:nvSpPr>
          <p:cNvPr id="17" name="Text 15"/>
          <p:cNvSpPr/>
          <p:nvPr/>
        </p:nvSpPr>
        <p:spPr>
          <a:xfrm>
            <a:off x="7059168" y="1517904"/>
            <a:ext cx="14630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대부분의 실패는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1~2층만 최적화한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AAL은 3층부터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설계하고 1~2층을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수단으로 배치한다.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참여(Engagement)는 목적이 아니라 정체성(Identity)으로 가는 계단이다 — 이것이 '참여를 위한 설계'와 '성장을 위한 설계'의 분기점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심리학 근거 지도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믿고 설계할 것인가 — 근거 강도 등급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91056"/>
            <a:ext cx="118872" cy="118872"/>
          </a:xfrm>
          <a:prstGeom prst="ellipse">
            <a:avLst/>
          </a:prstGeom>
          <a:solidFill>
            <a:srgbClr val="1B7A3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996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A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강도 상 (메타분석급)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04088" y="1883664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자기결정성이론 SDT — 자율·유능·관계 (22만 명 메타분석)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과잉정당화 — 외적 보상의 내적 동기 훼손 (128개 실험)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생산적 실패 — 먼저 씨름하게 하라 (1.2만 명)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손실회피 — 손실의 고통은 이득의 2배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바람직한 어려움 · 습관 과학(66일, Lally)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93008" y="1591056"/>
            <a:ext cx="118872" cy="118872"/>
          </a:xfrm>
          <a:prstGeom prst="ellipse">
            <a:avLst/>
          </a:prstGeom>
          <a:solidFill>
            <a:srgbClr val="B07A1E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14996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7A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강도 중 (조건부)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93008" y="1883664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 — 도전·기술 균형 (상관 중간)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목표구배 — '거의 다 왔다' 가속 (보상 직후 급락 주의)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IKEA 효과 — 성공적 완료 시에만 발생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파라소셜 관계 — AI 맥락 연구는 신생, 위험 병존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1371600"/>
            <a:ext cx="2606040" cy="301752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81928" y="1591056"/>
            <a:ext cx="118872" cy="118872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4996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인용 주의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81928" y="1883664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Zeigarnik 효과 — 2025 메타분석에서 '기억 우위' 기각.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'재개 경향(Ovsiankina)'만 지지 — 이어하기 설계 근거로는 이쪽을 인용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Hooked·Fogg 모델 — 학술 이론이 아닌 실무 프레임워크. 구조 설명용으로만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5262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등급화의 효용: 임원·투자자 보고에서 '검증된 심리학'만 인용해 신뢰를 방어할 수 있다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결정적 심리 원리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설계의 분기점이 되는 발견들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17904"/>
            <a:ext cx="365760" cy="36576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6128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보상의 분기점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1883664"/>
            <a:ext cx="3584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조건부 '유형 보상'은 내적 동기를 훼손하지만, '정보적 피드백'(성장을 알려주는 신호)은 훼손하지 않는다 — Deci 1999. 보상을 사고 행동에 연동한 AAL 원칙의 학술적 정당화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517904"/>
            <a:ext cx="365760" cy="36576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17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21808" y="1536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생산적 실패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64608" y="1883664"/>
            <a:ext cx="3584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가르치기 전에 먼저 스스로 씨름하게 하는 것이 개념 이해·전이에서 우월 — Kapur 메타분석. '답을 주지 않는' 소크라틱 설계의 직접적 실증 근거. 단 좌절 관리(비계)와 병행 필수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18104"/>
            <a:ext cx="365760" cy="36576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3136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 과학의 반전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4088" y="3483864"/>
            <a:ext cx="3584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자동성 형성 평균 66일, 그리고 '하루 결석은 습관 형성에 무해' — Lally 2010. 하루 끊기면 리셋되는 스트릭은 과학과 어긋난다. 용서 장치는 온정이 아니라 과학이다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2971800"/>
            <a:ext cx="3977640" cy="146304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3118104"/>
            <a:ext cx="365760" cy="36576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321808" y="3136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손실회피의 양날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64608" y="3483864"/>
            <a:ext cx="35844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손실의 고통은 이득의 2배(Kahneman·Tversky) — 강력한 만큼 11~15세에겐 불안 유발 장치가 된다. EU DSA도 스트릭 기본 off 권고. '잃는 공포'가 아닌 '쌓이는 빛'으로 전환 필요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철학적 기반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2,400년의 사상이 가리키는 같은 방향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소크라테스 · 산파술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606040" y="1325880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산파는 생명을 만들지 않는다 — 이미 배태된 것이 태어나도록 도울 뿐 (테아이테토스)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튜터는 답변기가 아닌 질문자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892808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9280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아리스토텔레스 · 헥시스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606040" y="1892808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정의로운 행동을 반복함으로써 정의로운 사람이 된다 (니코마코스 윤리학 2권)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0" y="189280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'앱을 지워도 남는 습관'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2459736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59736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칸트 · 자율성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2459736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이성적 숙고를 우회하는 은밀한 유도는 조작이다 (넛지 논쟁)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245973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넛지는 투명하게, 학습자 이익 방향으로, 거부 가능하게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026664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26664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듀이 · 진정한 흥미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06040" y="3026664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'재미로 포장하기'는 역효과 — 흥미는 활동과 자기의 동일시에서 나온다 (1913)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302666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재미는 학습 목적에 내재해야 한다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593592"/>
            <a:ext cx="8138160" cy="493776"/>
          </a:xfrm>
          <a:prstGeom prst="roundRect">
            <a:avLst>
              <a:gd name="adj" fmla="val 9259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59359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비고츠키 · ZPD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3593592"/>
            <a:ext cx="3703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도움으로 해낼 수 있는 영역에서 학습이 최적화되고, 지원은 점차 제거된다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59359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정체 감지 → 비계 → 스스로 도달 → 비계 제거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2920" y="422452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13203F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24528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"좋은 교육 제품은 학습자를 붙잡아두는 것이 아니라, 스스로 서게 만드는 과정에서 자연히 돌아오게 만든다"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심리 UX 방법론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LUMEN 프레임워크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검증 × 심리 근거 × 철학 기반의 3중 지지 — 브랜드 세계관 'Lumen Atlas'와 정렬된 5원칙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1536192" cy="2377440"/>
          </a:xfrm>
          <a:prstGeom prst="roundRect">
            <a:avLst>
              <a:gd name="adj" fmla="val 4167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2402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76072" y="29718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 of Habit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76072" y="34747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습관의 뼈대를 세워라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76072" y="395020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단서 · 최소 행동 · 용서 장치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167128" y="2057400"/>
            <a:ext cx="1536192" cy="2377440"/>
          </a:xfrm>
          <a:prstGeom prst="roundRect">
            <a:avLst>
              <a:gd name="adj" fmla="val 4167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67128" y="22402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2240280" y="29718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Uncover, don't Tell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240280" y="34747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주지 말고 꺼내게 하라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0280" y="395020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생산적 실패 · 3단계 비계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831336" y="2057400"/>
            <a:ext cx="1536192" cy="2377440"/>
          </a:xfrm>
          <a:prstGeom prst="roundRect">
            <a:avLst>
              <a:gd name="adj" fmla="val 4167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31336" y="22402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904488" y="29718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Mirror of Growth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904488" y="34747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성장을 거울처럼 비춰라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904488" y="395020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정보적 피드백 · 자기 대비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95544" y="2057400"/>
            <a:ext cx="1536192" cy="2377440"/>
          </a:xfrm>
          <a:prstGeom prst="roundRect">
            <a:avLst>
              <a:gd name="adj" fmla="val 4167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95544" y="22402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5568696" y="29718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Empathic, but Bounded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568696" y="34747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따뜻하되 경계 있는 관계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568696" y="395020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여정 메모리 · 조종 금지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59752" y="2057400"/>
            <a:ext cx="1536192" cy="2377440"/>
          </a:xfrm>
          <a:prstGeom prst="roundRect">
            <a:avLst>
              <a:gd name="adj" fmla="val 4167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59752" y="2240280"/>
            <a:ext cx="1536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7232904" y="2971800"/>
            <a:ext cx="1389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Nurture Autonomy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232904" y="347472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자율을 길러 졸업시켜라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32904" y="3950208"/>
            <a:ext cx="13898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FA3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선택권 · 비계 제거 · 자기주도 지표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리텐션시키는 것은 접속이 아니라 사고 습관이다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LUMEN 상세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 · U · M — 습관, 산파술, 성장 거울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54480"/>
            <a:ext cx="502920" cy="50292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 of Habit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04088" y="221284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 습관 과학(Lally 66일·하루 결석 무해) × Duolingo CURR × 아리스토텔레스 hexis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32004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적용  '등불 스트릭' — 하루 빠지면 리셋 대신 등불이 잠시 흐려졌다 돌아오면 다시 밝아진다. 학습 시간대는 온보딩에서 학생이 직접 선택, 그 시간에만 리마인더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93008" y="1554480"/>
            <a:ext cx="502920" cy="50292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114800" y="16276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Uncover, don't Tell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93008" y="221284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 생산적 실패(Kapur) × 바람직한 어려움(Bjork) × ZPD × 소크라테스 산파술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93008" y="32004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적용  힌트 3단계(방향 질문→관점→부분 비계) + '먼저 30초 생각하기'. 스스로 도달 시 최대 보상. 좌절 신호 감지 시 페르소나가 난이도를 낮추는 안전망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1371600"/>
            <a:ext cx="2606040" cy="3246120"/>
          </a:xfrm>
          <a:prstGeom prst="roundRect">
            <a:avLst>
              <a:gd name="adj" fmla="val 2105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81928" y="1554480"/>
            <a:ext cx="502920" cy="50292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8" name="Text 16"/>
          <p:cNvSpPr/>
          <p:nvPr/>
        </p:nvSpPr>
        <p:spPr>
          <a:xfrm>
            <a:off x="628192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03720" y="16276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Mirror of Growth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81928" y="2212848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 SDT 유능감 × 정보적 피드백(과잉정당화 회피) × Apple 링·NRC·Wrapped × 듀이의 성찰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81928" y="3200400"/>
            <a:ext cx="2240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적용  세션 델타 카드('지난번 근거 1개 → 오늘 3개') + 밝아지는 Atlas + 첫 세션 성취 보장. 비교 대상은 남이 아니라 과거의 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LUMEN 상세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 · N — 경계 있는 관계, 자율성 이양 + 윤리 가드레일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54480"/>
            <a:ext cx="502920" cy="50292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5880" y="1627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Empathic, but Bounded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04088" y="2212848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 파라소셜 연구 × Character.AI 소송·Common Sense Media 판정 × 칸트적 투명성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04088" y="2743200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적용  페르소나가 기억하는 건 감정적 신상이 아니라 '사고의 여정'. AI임을 지속 명시, 감정 조종형 재참여 훅(붙잡기·죄책감) 설계 단계 배제, 위기 신호 시 인간 연결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77640" cy="2148840"/>
          </a:xfrm>
          <a:prstGeom prst="roundRect">
            <a:avLst>
              <a:gd name="adj" fmla="val 2553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64608" y="1554480"/>
            <a:ext cx="502920" cy="502920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0" y="16276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Nurture Autonomy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2212848"/>
            <a:ext cx="3584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 SDT 자율성(지속성 최강 상관) × 비고츠키 fading × 아리스토텔레스 hexis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64608" y="2743200"/>
            <a:ext cx="3584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적용  레벨 상승 → 힌트 기본값 감소·자기 설명 요구 증가·무비계 챌린지. '자기주도 지표'(힌트 없이 도달한 비율)를 학부모 리포트 헤드라인으로 — 미선점 신뢰 자산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8138160" cy="1051560"/>
          </a:xfrm>
          <a:prstGeom prst="roundRect">
            <a:avLst>
              <a:gd name="adj" fmla="val 5217"/>
            </a:avLst>
          </a:prstGeom>
          <a:solidFill>
            <a:srgbClr val="FBF3D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0390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가드레일 — 2025~26 규제는 참여 최적화 설계를 직접 겨냥 (EU DSA · 영국 아동코드 · 美 KIDS Act · 韓 다크패턴 규제)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푸시 차단 · FOMO 문구 금지 · 무한 콘텐츠 금지 · 리더보드 기본 OFF 유지 · 보상은 사고 행동 연동 · 파일럿 전 아동영향평가(DPIA)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적용안 1 — P0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 파일럿 전 필수 반영 5가지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53312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72184"/>
            <a:ext cx="329184" cy="329184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472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53312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세션 성취 보장 온보딩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310128" y="135331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난이도 보정으로 '스스로 찾아낸 순간' 1회를 반드시 경험 → 즉시 가시화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601968" y="1353312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NRC 첫날 성취 +64% · IKEA 효과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8211312" y="1490472"/>
            <a:ext cx="292608" cy="292608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11" name="Text 9"/>
          <p:cNvSpPr/>
          <p:nvPr/>
        </p:nvSpPr>
        <p:spPr>
          <a:xfrm>
            <a:off x="8211312" y="1490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01168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2130552"/>
            <a:ext cx="329184" cy="329184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130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01168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힌트 3단계 + 좌절 안전망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10128" y="20116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 질문 → 관점 → 부분 비계. 연속 오답·지연 감지 시 페르소나가 격려 + 난이도 조정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01968" y="2011680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생산적 실패 · Bjork 경계 조건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211312" y="2148840"/>
            <a:ext cx="292608" cy="292608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19" name="Text 17"/>
          <p:cNvSpPr/>
          <p:nvPr/>
        </p:nvSpPr>
        <p:spPr>
          <a:xfrm>
            <a:off x="8211312" y="2148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2670048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2788920"/>
            <a:ext cx="329184" cy="329184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2788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267004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여정 메모리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10128" y="2670048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페르소나가 이전 세션의 사고 행동을 기억해 다음 세션 도입부에 연결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01968" y="2670048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ChatGPT 메모리 락인 · KPI② 직결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11312" y="2807208"/>
            <a:ext cx="292608" cy="292608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11312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3328416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" y="3447288"/>
            <a:ext cx="329184" cy="329184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3447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15568" y="3328416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델타 카드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10128" y="3328416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화면에 '지난번 근거 1개 → 오늘 3개' 구체 델타 + Lumen 보상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01968" y="3328416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SDT 유능감 · 정보적 피드백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211312" y="3465576"/>
            <a:ext cx="292608" cy="292608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35" name="Text 33"/>
          <p:cNvSpPr/>
          <p:nvPr/>
        </p:nvSpPr>
        <p:spPr>
          <a:xfrm>
            <a:off x="8211312" y="3465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3986784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F4F7FD"/>
          </a:solidFill>
          <a:ln w="9525">
            <a:solidFill>
              <a:srgbClr val="E3EAF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" y="4105656"/>
            <a:ext cx="329184" cy="329184"/>
          </a:xfrm>
          <a:prstGeom prst="ellipse">
            <a:avLst/>
          </a:prstGeom>
          <a:solidFill>
            <a:srgbClr val="13203F"/>
          </a:solidFill>
          <a:ln/>
        </p:spPr>
      </p:sp>
      <p:sp>
        <p:nvSpPr>
          <p:cNvPr id="38" name="Text 36"/>
          <p:cNvSpPr/>
          <p:nvPr/>
        </p:nvSpPr>
        <p:spPr>
          <a:xfrm>
            <a:off x="658368" y="4105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115568" y="3986784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등불 스트릭 (스트릭 재정의)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310128" y="3986784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리셋 대신 '흐려졌다 다시 밝아지는 등불' — 쉬어가기 기본 제공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601968" y="398678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습관 과학 · EU DSA 정합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211312" y="4123944"/>
            <a:ext cx="292608" cy="292608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43" name="Text 41"/>
          <p:cNvSpPr/>
          <p:nvPr/>
        </p:nvSpPr>
        <p:spPr>
          <a:xfrm>
            <a:off x="8211312" y="41239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 적용안 2 — P1 · P2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중 실험과 확장 로드맵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17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 — 파일럿 중 실험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항해일지 — 3축 성장을 이야기로 엮은 결산 카드. 학생용(정체성)과 학부모용(KPI③) 이원화. Wrapped 모델 + '실제 성과 연동' 원칙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소프트 소셜 — 랭킹 없이, 같은 지문을 읽은 또래의 익명 생각 1개를 세션 후 노출. Strava 관계 효과, 경쟁 불안 회피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시간대 자기 선택 + 맥락 리마인더 — 학생이 정한 시간에만 알림 (습관 앵커링 RCT · 칸트적 투명 넛지)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3977640" cy="3063240"/>
          </a:xfrm>
          <a:prstGeom prst="roundRect">
            <a:avLst>
              <a:gd name="adj" fmla="val 1791"/>
            </a:avLst>
          </a:prstGeom>
          <a:solidFill>
            <a:srgbClr val="F4F7FD"/>
          </a:solidFill>
          <a:ln/>
          <a:effectLst>
            <a:outerShdw sx="100000" sy="100000" kx="0" ky="0" algn="bl" rotWithShape="0" blurRad="88900" dist="25400" dir="2700000">
              <a:srgbClr val="1E2A4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5179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— 확장 로드맵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92040" y="192024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자율성 이양 커브 — 레벨 상승에 따라 힌트 기본값 감소, 자기 설명 요구 증가, 분기별 무비계 챌린지. '자기주도 지표'를 학부모 리포트 헤드라인으로</a:t>
            </a:r>
            <a:endParaRPr lang="en-US" sz="1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연간 성장 결산 '내 Atlas의 1년' — 성장 서사 + 공유 카드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Lumen의 실물 의미 전환 — 누적 Lumen을 도서 기부 등으로 전환 (Forest 나무 심기 모델, 자기초월적 의미 부여)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UX 브리프·보상 설계와 정합 — 본 방법론은 기존 결정에 학술·시장 근거를 부여하고 빈 곳을 채우는 작업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97B1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연결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A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4대 KPI 매핑과 북극성 지표</a:t>
            </a:r>
            <a:endParaRPr lang="en-US" sz="2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01752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파일럿 KPI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기여 장치 (LUMEN)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제안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세션 완료율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힌트 3단계·안전망(U) + 델타 카드(M) + 등불(L)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완료율과 함께 '힌트 없이 완료한 비율' 병행 — 참여·성과 분리 감시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페르소나 반응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 여정 메모리(E) + 페르소나 선택권(N)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상호작용 빈도 + 정서 의존 신호(과사용) 모니터링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 학부모 리포트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 항해일지(M) + 자기주도 지표(N)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열람률 + '성장이 느껴진다' 정성 응답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④ 학습 패턴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시간대 자기 선택(L) + 세션 로그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4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자동성 형성 커브(66일 검증) · 시간대 고정률과 리텐션 상관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109728" marB="109728" anchor="ctr">
                    <a:lnL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977640"/>
            <a:ext cx="8138160" cy="822960"/>
          </a:xfrm>
          <a:prstGeom prst="roundRect">
            <a:avLst>
              <a:gd name="adj" fmla="val 6667"/>
            </a:avLst>
          </a:prstGeom>
          <a:solidFill>
            <a:srgbClr val="13203F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6908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제안 — 사고 복귀율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사고 행동(근거 찾기 등)을 보인 학생이 다음 세션에서도 사고 행동을 보이는 비율. Duolingo CURR의 AAL식 재발명 — 접속이 아닌 '사고'의 리텐션을 최적화 대상으로 선언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85800"/>
            <a:ext cx="146304" cy="146304"/>
          </a:xfrm>
          <a:prstGeom prst="ellipse">
            <a:avLst/>
          </a:prstGeom>
          <a:solidFill>
            <a:srgbClr val="E8B54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515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AAL의 포지셔닝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"시장이 검증한 습관·성장 가시화의 심리학을,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소크라틱 철학이 허용하는 형태로만 쓴다.</a:t>
            </a:r>
            <a:endParaRPr lang="en-US" sz="210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리텐션시키는 것은 접속이 아니라 사고 습관이다."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3108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최적화가 부채가 되는 2026년 규제 환경에서, 그리고 학부모가 구매를 결정하는 시장에서 — '자기주도 지표'는 아직 누구도 선점하지 않은 신뢰 자산이다.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384048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931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요청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85800" y="416966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 기능 5개, Q4 파일럿 반영 확정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384048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931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요청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74720" y="416966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북극성 지표 '사고 복귀율' 채택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384048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18264C"/>
          </a:solidFill>
          <a:ln w="12700">
            <a:solidFill>
              <a:srgbClr val="2C3D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39319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B5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요청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4169664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파일럿 전 아동영향평가(DPIA) 착수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C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AAL 심리 UX 방법론</dc:title>
  <dc:subject>PptxGenJS Presentation</dc:subject>
  <dc:creator>AAL 심리 UX</dc:creator>
  <cp:lastModifiedBy>AAL 심리 UX</cp:lastModifiedBy>
  <cp:revision>1</cp:revision>
  <dcterms:created xsi:type="dcterms:W3CDTF">2026-07-03T01:10:49Z</dcterms:created>
  <dcterms:modified xsi:type="dcterms:W3CDTF">2026-07-03T01:10:49Z</dcterms:modified>
</cp:coreProperties>
</file>