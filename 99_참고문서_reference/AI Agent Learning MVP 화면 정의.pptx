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sldIdLst>
    <p:sldId id="256" r:id="rId5"/>
    <p:sldId id="262" r:id="rId6"/>
    <p:sldId id="261" r:id="rId7"/>
    <p:sldId id="259" r:id="rId8"/>
    <p:sldId id="260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A43862-0CE5-335F-8371-E1AEAA0827CA}" v="450" dt="2026-06-30T04:58:22.1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728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8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280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Creverse AI Tutor</a:t>
            </a:r>
            <a:endParaRPr lang="en-US" sz="4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>
                <a:solidFill>
                  <a:srgbClr val="A0D0D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MVP 필수 화면 정의</a:t>
            </a:r>
            <a:endParaRPr lang="en-US" sz="36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4572000" cy="36576"/>
          </a:xfrm>
          <a:prstGeom prst="rect">
            <a:avLst/>
          </a:prstGeom>
          <a:solidFill>
            <a:srgbClr val="00C8C8"/>
          </a:solidFill>
          <a:ln w="12700">
            <a:solidFill>
              <a:srgbClr val="00C8C8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>
                <a:solidFill>
                  <a:srgbClr val="C0E8E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파일럿 확보 데이터 4개를 역산한 최소 개발 화면</a:t>
            </a:r>
            <a:endParaRPr lang="en-US" sz="17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80B0B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청담 재원생 파일럿 (약 100명, 무료 리서치)  ·  2026 Q4 목표  ·  AI Biz Div</a:t>
            </a:r>
            <a:endParaRPr lang="en-US" sz="14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50292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007A7A">
              <a:alpha val="50000"/>
            </a:srgbClr>
          </a:solidFill>
          <a:ln w="12700">
            <a:solidFill>
              <a:srgbClr val="00AAA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5120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A0D8D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파일럿 규모</a:t>
            </a:r>
            <a:endParaRPr 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5486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약 100명</a:t>
            </a:r>
            <a:endParaRPr lang="en-US" sz="16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429000" y="50292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007A7A">
              <a:alpha val="50000"/>
            </a:srgbClr>
          </a:solidFill>
          <a:ln w="12700">
            <a:solidFill>
              <a:srgbClr val="00AAA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29000" y="5120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A0D8D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기간</a:t>
            </a:r>
            <a:endParaRPr 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29000" y="5486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8~12주</a:t>
            </a:r>
            <a:endParaRPr lang="en-US" sz="16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17920" y="50292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007A7A">
              <a:alpha val="50000"/>
            </a:srgbClr>
          </a:solidFill>
          <a:ln w="12700">
            <a:solidFill>
              <a:srgbClr val="00AAA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17920" y="5120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A0D8D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목적</a:t>
            </a:r>
            <a:endParaRPr 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17920" y="5486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데이터 확보</a:t>
            </a:r>
            <a:endParaRPr lang="en-US" sz="16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006840" y="50292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007A7A">
              <a:alpha val="50000"/>
            </a:srgbClr>
          </a:solidFill>
          <a:ln w="12700">
            <a:solidFill>
              <a:srgbClr val="00AAA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006840" y="5120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A0D8D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판매 여부</a:t>
            </a:r>
            <a:endParaRPr 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006840" y="5486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없음 (리서치)</a:t>
            </a:r>
            <a:endParaRPr lang="en-US" sz="16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05858"/>
          </a:solidFill>
          <a:ln w="12700">
            <a:solidFill>
              <a:srgbClr val="005858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파일럿 확보 데이터 4개</a:t>
            </a:r>
            <a:endParaRPr lang="en-US" sz="18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이 4개 데이터를 역산하면 MVP에서 만들어야 할 화면이 결정된다</a:t>
            </a:r>
            <a:endParaRPr lang="en-US" sz="14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280161"/>
            <a:ext cx="2697480" cy="3427134"/>
          </a:xfrm>
          <a:prstGeom prst="roundRect">
            <a:avLst>
              <a:gd name="adj" fmla="val 4068"/>
            </a:avLst>
          </a:prstGeom>
          <a:solidFill>
            <a:srgbClr val="E6F4F4"/>
          </a:solidFill>
          <a:ln w="12700">
            <a:solidFill>
              <a:srgbClr val="C2E0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9768" y="1417320"/>
            <a:ext cx="502920" cy="502920"/>
          </a:xfrm>
          <a:prstGeom prst="ellipse">
            <a:avLst/>
          </a:prstGeom>
          <a:solidFill>
            <a:srgbClr val="007A7A"/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9768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①</a:t>
            </a:r>
            <a:endParaRPr lang="en-US" sz="16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551688" y="1432249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585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세션 완료율</a:t>
            </a:r>
            <a:endParaRPr lang="en-US" sz="16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74904" y="2027542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007A7A"/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74904" y="2027542"/>
            <a:ext cx="2514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Phase 0 KPI: 60% 이상 (주 2회)</a:t>
            </a:r>
            <a:endParaRPr 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0624" y="2621902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제품이 기본적으로 작동하는가를 판단하는 1차 지표. 접속·종료 리포트가 완료율 지속성에 미치는 영향도 함께 </a:t>
            </a:r>
            <a:r>
              <a:rPr lang="en-US" sz="1050" err="1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관찰</a:t>
            </a:r>
            <a:r>
              <a:rPr 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. </a:t>
            </a:r>
            <a:r>
              <a:rPr lang="ko-KR" alt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세션 완료까지의 평균 시간 관찰 필요</a:t>
            </a:r>
            <a:r>
              <a:rPr lang="en-US" altLang="ko-KR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.</a:t>
            </a:r>
            <a:endParaRPr lang="en-US" sz="105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3192" y="3833482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FAE8E8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8912" y="3833482"/>
            <a:ext cx="24231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CC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→ 학습 세션 + 세션 전·후 리포트 필요</a:t>
            </a:r>
            <a:endParaRPr 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27832" y="1280161"/>
            <a:ext cx="2697480" cy="3427134"/>
          </a:xfrm>
          <a:prstGeom prst="roundRect">
            <a:avLst>
              <a:gd name="adj" fmla="val 4068"/>
            </a:avLst>
          </a:prstGeom>
          <a:solidFill>
            <a:srgbClr val="F0FAFA"/>
          </a:solidFill>
          <a:ln w="12700">
            <a:solidFill>
              <a:srgbClr val="C2E0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337560" y="1417320"/>
            <a:ext cx="502920" cy="502920"/>
          </a:xfrm>
          <a:prstGeom prst="ellipse">
            <a:avLst/>
          </a:prstGeom>
          <a:solidFill>
            <a:srgbClr val="007A7A"/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375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②</a:t>
            </a:r>
            <a:endParaRPr lang="en-US" sz="16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62172" y="1432249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585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AI Agent 페르소나 반응</a:t>
            </a:r>
            <a:endParaRPr lang="en-US" sz="14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82696" y="2027542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007A7A"/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82696" y="2027542"/>
            <a:ext cx="2514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어떤 페르소나·Endorse 톤이 재참여를 만드는가</a:t>
            </a:r>
            <a:endParaRPr 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328416" y="2621902"/>
            <a:ext cx="2423160" cy="1343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칸미고 실패의 핵심 원인. 접속 시 복기 / 종료 시 Endorse 설계가 다음 세션 참여에 미치는 영향이 핵심 관찰 </a:t>
            </a:r>
            <a:r>
              <a:rPr lang="en-US" sz="1050" err="1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포인트</a:t>
            </a:r>
            <a:r>
              <a:rPr 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. </a:t>
            </a:r>
            <a:r>
              <a:rPr lang="ko-KR" alt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파일럿 단계에서 </a:t>
            </a:r>
            <a:r>
              <a:rPr lang="en-US" altLang="ko-KR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2</a:t>
            </a:r>
            <a:r>
              <a:rPr lang="ko-KR" alt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개의 페르소나를 운영하여 더 선호하는 페르소나를 고도화 시키는 방안</a:t>
            </a:r>
            <a:r>
              <a:rPr lang="en-US" altLang="ko-KR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. </a:t>
            </a:r>
            <a:r>
              <a:rPr lang="ko-KR" alt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혹은 다른 톤의 여러 페르소나를 운영하여 선호도가 높은 페르소나를 추려서 고도화</a:t>
            </a:r>
            <a:r>
              <a:rPr lang="en-US" altLang="ko-KR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.</a:t>
            </a:r>
            <a:endParaRPr lang="en-US" sz="105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55264" y="3833482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FAE8E8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00984" y="3833482"/>
            <a:ext cx="24231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CC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→ AI Agent 대화 + 세션 전·후 리포트 필요</a:t>
            </a:r>
            <a:endParaRPr 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35624" y="1280161"/>
            <a:ext cx="2697480" cy="3427134"/>
          </a:xfrm>
          <a:prstGeom prst="roundRect">
            <a:avLst>
              <a:gd name="adj" fmla="val 4068"/>
            </a:avLst>
          </a:prstGeom>
          <a:solidFill>
            <a:srgbClr val="E6F4F4"/>
          </a:solidFill>
          <a:ln w="12700">
            <a:solidFill>
              <a:srgbClr val="C2E0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45352" y="1417320"/>
            <a:ext cx="502920" cy="502920"/>
          </a:xfrm>
          <a:prstGeom prst="ellipse">
            <a:avLst/>
          </a:prstGeom>
          <a:solidFill>
            <a:srgbClr val="007A7A"/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45352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③</a:t>
            </a:r>
            <a:endParaRPr lang="en-US" sz="16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67272" y="1432249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585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학부모 리포트 반응</a:t>
            </a:r>
            <a:endParaRPr lang="en-US" sz="16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190488" y="2027542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007A7A"/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190488" y="2027542"/>
            <a:ext cx="2514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데일리 로그 vs 4주 추이 — 어느 섹션에 반응하는가</a:t>
            </a:r>
            <a:endParaRPr 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236208" y="2621902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카카오 알림 오픈율 / 리포트 섹션별 체류 시간 / 성과 알림 후 재방문율. 구독 갱신 동기를 만드는 검증 </a:t>
            </a:r>
            <a:r>
              <a:rPr lang="en-US" sz="1050" err="1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포인트</a:t>
            </a:r>
            <a:r>
              <a:rPr 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. </a:t>
            </a:r>
            <a:r>
              <a:rPr lang="ko-KR" alt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파일럿 단계에서 학부모 페이지에 </a:t>
            </a:r>
            <a:r>
              <a:rPr lang="en-US" altLang="ko-KR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1:1 </a:t>
            </a:r>
            <a:r>
              <a:rPr lang="ko-KR" alt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문의 페이지 개설 후 실시간으로 피드백 수렴</a:t>
            </a:r>
            <a:r>
              <a:rPr lang="en-US" altLang="ko-KR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방안 검토</a:t>
            </a:r>
            <a:r>
              <a:rPr lang="en-US" altLang="ko-KR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.</a:t>
            </a:r>
            <a:endParaRPr lang="en-US" sz="105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163056" y="3833482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FAE8E8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208776" y="3833482"/>
            <a:ext cx="24231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CC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→ 데일리 로그 + 4주 추이 + 카카오 알림 필요</a:t>
            </a:r>
            <a:endParaRPr 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942832" y="1275496"/>
            <a:ext cx="2697480" cy="3427134"/>
          </a:xfrm>
          <a:prstGeom prst="roundRect">
            <a:avLst>
              <a:gd name="adj" fmla="val 4068"/>
            </a:avLst>
          </a:prstGeom>
          <a:solidFill>
            <a:srgbClr val="F0FAFA"/>
          </a:solidFill>
          <a:ln w="12700">
            <a:solidFill>
              <a:srgbClr val="C2E0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153144" y="1417320"/>
            <a:ext cx="502920" cy="502920"/>
          </a:xfrm>
          <a:prstGeom prst="ellipse">
            <a:avLst/>
          </a:prstGeom>
          <a:solidFill>
            <a:srgbClr val="007A7A"/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153144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④</a:t>
            </a:r>
            <a:endParaRPr lang="en-US" sz="16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275064" y="1432249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585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학습 패턴 데이터</a:t>
            </a:r>
            <a:endParaRPr lang="en-US" sz="16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052560" y="2027542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007A7A"/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052560" y="2027542"/>
            <a:ext cx="2514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8~12주 누적 시 측정 가능한 변화량</a:t>
            </a:r>
            <a:endParaRPr 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098280" y="2621902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err="1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지문</a:t>
            </a:r>
            <a:r>
              <a:rPr 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난이도 추이 / 강한·약한 문항 유형 변화 / 선호 패턴 이동. 4주 단위로 추이가 보여야 파일럿 근거가 된다.</a:t>
            </a:r>
            <a:endParaRPr lang="en-US" sz="105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025128" y="3833482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FAE8E8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070848" y="3833482"/>
            <a:ext cx="24231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CC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→ 세션별 데이터 로깅 + 4주 추이 차트 필요</a:t>
            </a:r>
            <a:endParaRPr 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AAAAA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Creverse  |  AI Biz Div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Shape 3">
            <a:extLst>
              <a:ext uri="{FF2B5EF4-FFF2-40B4-BE49-F238E27FC236}">
                <a16:creationId xmlns:a16="http://schemas.microsoft.com/office/drawing/2014/main" id="{BB7BF455-633B-85A2-CCEB-5F122F65DBE7}"/>
              </a:ext>
            </a:extLst>
          </p:cNvPr>
          <p:cNvSpPr/>
          <p:nvPr/>
        </p:nvSpPr>
        <p:spPr>
          <a:xfrm>
            <a:off x="320040" y="4855028"/>
            <a:ext cx="2697480" cy="1724091"/>
          </a:xfrm>
          <a:prstGeom prst="roundRect">
            <a:avLst>
              <a:gd name="adj" fmla="val 4068"/>
            </a:avLst>
          </a:prstGeom>
          <a:solidFill>
            <a:srgbClr val="E6F4F4"/>
          </a:solidFill>
          <a:ln w="12700">
            <a:solidFill>
              <a:srgbClr val="C2E0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 lIns="91440" tIns="45720" rIns="91440" bIns="45720" anchor="t"/>
          <a:lstStyle/>
          <a:p>
            <a:r>
              <a:rPr lang="ko-KR" altLang="en-US" sz="900" b="1">
                <a:latin typeface="Noto Sans KR" panose="020B0200000000000000" pitchFamily="50" charset="-127"/>
                <a:ea typeface="Noto Sans KR"/>
              </a:rPr>
              <a:t>필요기능</a:t>
            </a:r>
            <a:r>
              <a:rPr lang="en-US" altLang="ko-KR" sz="900" b="1">
                <a:latin typeface="Noto Sans KR" panose="020B0200000000000000" pitchFamily="50" charset="-127"/>
                <a:ea typeface="Noto Sans KR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ko-KR" altLang="en-US" sz="900">
                <a:latin typeface="Noto Sans KR" panose="020B0200000000000000" pitchFamily="50" charset="-127"/>
                <a:ea typeface="Noto Sans KR"/>
              </a:rPr>
              <a:t>로그인 (로그인 시간 기록)</a:t>
            </a:r>
          </a:p>
          <a:p>
            <a:pPr marL="171450" indent="-171450">
              <a:buFontTx/>
              <a:buChar char="-"/>
            </a:pPr>
            <a:r>
              <a:rPr lang="ko-KR" altLang="en-US" sz="900">
                <a:latin typeface="Noto Sans KR" panose="020B0200000000000000" pitchFamily="50" charset="-127"/>
                <a:ea typeface="Noto Sans KR"/>
              </a:rPr>
              <a:t>세션 종료후 완료 버튼  </a:t>
            </a:r>
            <a:r>
              <a:rPr lang="en-US" altLang="ko-KR" sz="900">
                <a:latin typeface="Noto Sans KR" panose="020B0200000000000000" pitchFamily="50" charset="-127"/>
                <a:ea typeface="Noto Sans KR"/>
                <a:sym typeface="Wingdings" panose="05000000000000000000" pitchFamily="2" charset="2"/>
              </a:rPr>
              <a:t> </a:t>
            </a:r>
            <a:r>
              <a:rPr lang="ko-KR" altLang="en-US" sz="900">
                <a:latin typeface="Noto Sans KR" panose="020B0200000000000000" pitchFamily="50" charset="-127"/>
                <a:ea typeface="Noto Sans KR"/>
                <a:sym typeface="Wingdings" panose="05000000000000000000" pitchFamily="2" charset="2"/>
              </a:rPr>
              <a:t>버튼을 눌렀을때 모든 데이터가 로깅</a:t>
            </a:r>
            <a:endParaRPr lang="ko-KR" altLang="en-US" sz="900">
              <a:latin typeface="Noto Sans KR" panose="020B0200000000000000" pitchFamily="50" charset="-127"/>
              <a:ea typeface="Noto Sans KR"/>
            </a:endParaRPr>
          </a:p>
          <a:p>
            <a:endParaRPr lang="ko-KR" altLang="en-US" sz="9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Shape 3">
            <a:extLst>
              <a:ext uri="{FF2B5EF4-FFF2-40B4-BE49-F238E27FC236}">
                <a16:creationId xmlns:a16="http://schemas.microsoft.com/office/drawing/2014/main" id="{A54637E3-8924-04F9-0168-FA648E877BA3}"/>
              </a:ext>
            </a:extLst>
          </p:cNvPr>
          <p:cNvSpPr/>
          <p:nvPr/>
        </p:nvSpPr>
        <p:spPr>
          <a:xfrm>
            <a:off x="3222896" y="4876798"/>
            <a:ext cx="2697480" cy="1724091"/>
          </a:xfrm>
          <a:prstGeom prst="roundRect">
            <a:avLst>
              <a:gd name="adj" fmla="val 4068"/>
            </a:avLst>
          </a:prstGeom>
          <a:solidFill>
            <a:srgbClr val="E6F4F4"/>
          </a:solidFill>
          <a:ln w="12700">
            <a:solidFill>
              <a:srgbClr val="C2E0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 lIns="91440" tIns="45720" rIns="91440" bIns="45720" anchor="t"/>
          <a:lstStyle/>
          <a:p>
            <a:r>
              <a:rPr lang="ko-KR" altLang="en-US" sz="900" b="1">
                <a:latin typeface="Noto Sans KR" panose="020B0200000000000000" pitchFamily="50" charset="-127"/>
                <a:ea typeface="Noto Sans KR"/>
              </a:rPr>
              <a:t>필요기능</a:t>
            </a:r>
            <a:r>
              <a:rPr lang="en-US" altLang="ko-KR" sz="900" b="1">
                <a:latin typeface="Noto Sans KR" panose="020B0200000000000000" pitchFamily="50" charset="-127"/>
                <a:ea typeface="Noto Sans KR"/>
              </a:rPr>
              <a:t>:</a:t>
            </a:r>
          </a:p>
          <a:p>
            <a:pPr marL="171450" indent="-171450">
              <a:buFont typeface="Calibri"/>
              <a:buChar char="-"/>
            </a:pPr>
            <a:r>
              <a:rPr lang="ko-KR" altLang="en-US" sz="900">
                <a:latin typeface="Noto Sans KR" panose="020B0200000000000000" pitchFamily="50" charset="-127"/>
                <a:ea typeface="Noto Sans KR"/>
              </a:rPr>
              <a:t>각기 다른 톤의 페르소나 2개 혹은 8개</a:t>
            </a:r>
            <a:endParaRPr lang="ko-KR" altLang="en-US" sz="9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Calibri"/>
              <a:buChar char="-"/>
            </a:pPr>
            <a:r>
              <a:rPr lang="ko-KR" altLang="en-US" sz="900">
                <a:latin typeface="Noto Sans KR" panose="020B0200000000000000" pitchFamily="50" charset="-127"/>
                <a:ea typeface="Noto Sans KR"/>
              </a:rPr>
              <a:t>페로소나 톤 설계</a:t>
            </a:r>
          </a:p>
          <a:p>
            <a:pPr marL="171450" indent="-171450">
              <a:buFont typeface="Calibri"/>
              <a:buChar char="-"/>
            </a:pPr>
            <a:r>
              <a:rPr lang="ko-KR" altLang="en-US" sz="900">
                <a:latin typeface="Noto Sans KR" panose="020B0200000000000000" pitchFamily="50" charset="-127"/>
                <a:ea typeface="Noto Sans KR"/>
              </a:rPr>
              <a:t>세션 전,후의 페르소나와의 interaction에 대한 반응 리포트</a:t>
            </a:r>
          </a:p>
          <a:p>
            <a:pPr marL="171450" indent="-171450">
              <a:buFont typeface="Calibri"/>
              <a:buChar char="-"/>
            </a:pPr>
            <a:r>
              <a:rPr lang="ko-KR" altLang="en-US" sz="900">
                <a:latin typeface="Noto Sans KR" panose="020B0200000000000000" pitchFamily="50" charset="-127"/>
                <a:ea typeface="Noto Sans KR"/>
              </a:rPr>
              <a:t>4주 페르소나 변화별 학생들 학습 데이터 (정오답, 세션 체류시간 데이터)</a:t>
            </a:r>
            <a:endParaRPr lang="ko-KR" altLang="en-US" sz="9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Calibri"/>
              <a:buChar char="-"/>
            </a:pPr>
            <a:endParaRPr lang="ko-KR" altLang="en-US" sz="9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Shape 3">
            <a:extLst>
              <a:ext uri="{FF2B5EF4-FFF2-40B4-BE49-F238E27FC236}">
                <a16:creationId xmlns:a16="http://schemas.microsoft.com/office/drawing/2014/main" id="{09E525DB-855E-2E9A-F194-E7E0DDBF47F7}"/>
              </a:ext>
            </a:extLst>
          </p:cNvPr>
          <p:cNvSpPr/>
          <p:nvPr/>
        </p:nvSpPr>
        <p:spPr>
          <a:xfrm>
            <a:off x="6133011" y="4876799"/>
            <a:ext cx="2697480" cy="1724091"/>
          </a:xfrm>
          <a:prstGeom prst="roundRect">
            <a:avLst>
              <a:gd name="adj" fmla="val 4068"/>
            </a:avLst>
          </a:prstGeom>
          <a:solidFill>
            <a:srgbClr val="E6F4F4"/>
          </a:solidFill>
          <a:ln w="12700">
            <a:solidFill>
              <a:srgbClr val="C2E0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 lIns="91440" tIns="45720" rIns="91440" bIns="45720" anchor="t"/>
          <a:lstStyle/>
          <a:p>
            <a:r>
              <a:rPr lang="ko-KR" altLang="en-US" sz="900" b="1">
                <a:latin typeface="Noto Sans KR" panose="020B0200000000000000" pitchFamily="50" charset="-127"/>
                <a:ea typeface="Noto Sans KR"/>
              </a:rPr>
              <a:t>필요기능</a:t>
            </a:r>
            <a:r>
              <a:rPr lang="en-US" altLang="ko-KR" sz="900" b="1">
                <a:latin typeface="Noto Sans KR" panose="020B0200000000000000" pitchFamily="50" charset="-127"/>
                <a:ea typeface="Noto Sans KR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ko-KR" altLang="en-US" sz="900">
                <a:latin typeface="Noto Sans KR" panose="020B0200000000000000" pitchFamily="50" charset="-127"/>
                <a:ea typeface="Noto Sans KR"/>
              </a:rPr>
              <a:t>학부모 앱</a:t>
            </a:r>
          </a:p>
          <a:p>
            <a:pPr marL="171450" indent="-171450">
              <a:buFontTx/>
              <a:buChar char="-"/>
            </a:pPr>
            <a:r>
              <a:rPr lang="ko-KR" altLang="en-US" sz="900">
                <a:latin typeface="Noto Sans KR" panose="020B0200000000000000" pitchFamily="50" charset="-127"/>
                <a:ea typeface="Noto Sans KR"/>
              </a:rPr>
              <a:t>앱의 메뉴 </a:t>
            </a:r>
          </a:p>
          <a:p>
            <a:pPr marL="628650" lvl="1" indent="-171450">
              <a:buFont typeface="Courier New"/>
              <a:buChar char="o"/>
            </a:pPr>
            <a:r>
              <a:rPr lang="ko-KR" altLang="en-US" sz="900">
                <a:latin typeface="Noto Sans KR" panose="020B0200000000000000" pitchFamily="50" charset="-127"/>
                <a:ea typeface="Noto Sans KR"/>
              </a:rPr>
              <a:t>데일리로그 </a:t>
            </a:r>
          </a:p>
          <a:p>
            <a:pPr marL="1085850" lvl="2" indent="-171450">
              <a:buFont typeface="Arial"/>
              <a:buChar char="•"/>
            </a:pPr>
            <a:r>
              <a:rPr lang="ko-KR" altLang="en-US" sz="900">
                <a:latin typeface="Noto Sans KR" panose="020B0200000000000000" pitchFamily="50" charset="-127"/>
                <a:ea typeface="Noto Sans KR"/>
              </a:rPr>
              <a:t>오늘 배운내용, 보강할 부분, 좋아진 점등을 간단하게 기록.)</a:t>
            </a:r>
            <a:endParaRPr lang="ko-KR">
              <a:cs typeface="Calibri" panose="020F0502020204030204"/>
            </a:endParaRPr>
          </a:p>
          <a:p>
            <a:pPr marL="628650" lvl="1" indent="-171450">
              <a:buFont typeface="Courier New"/>
              <a:buChar char="o"/>
            </a:pPr>
            <a:r>
              <a:rPr lang="ko-KR" altLang="en-US" sz="900">
                <a:latin typeface="Noto Sans KR" panose="020B0200000000000000" pitchFamily="50" charset="-127"/>
                <a:ea typeface="Noto Sans KR"/>
              </a:rPr>
              <a:t>4주 성장그래프</a:t>
            </a:r>
          </a:p>
          <a:p>
            <a:pPr marL="1085850" lvl="2" indent="-171450">
              <a:buFont typeface="Arial"/>
              <a:buChar char="•"/>
            </a:pPr>
            <a:r>
              <a:rPr lang="ko-KR" sz="900">
                <a:latin typeface="Noto Sans KR" panose="020B0200000000000000" pitchFamily="50" charset="-127"/>
                <a:ea typeface="Noto Sans KR"/>
              </a:rPr>
              <a:t>4주동안의 성장 그래프와 AI 코멘트</a:t>
            </a:r>
            <a:endParaRPr lang="ko-KR" altLang="en-US" sz="900">
              <a:latin typeface="Noto Sans KR" panose="020B0200000000000000" pitchFamily="50" charset="-127"/>
              <a:ea typeface="Noto Sans KR"/>
            </a:endParaRPr>
          </a:p>
          <a:p>
            <a:pPr marL="628650" lvl="1" indent="-171450">
              <a:buFont typeface="Courier New"/>
              <a:buChar char="o"/>
            </a:pPr>
            <a:r>
              <a:rPr lang="ko-KR" altLang="en-US" sz="900">
                <a:latin typeface="Noto Sans KR" panose="020B0200000000000000" pitchFamily="50" charset="-127"/>
                <a:ea typeface="Noto Sans KR"/>
              </a:rPr>
              <a:t>1:1 문의채널</a:t>
            </a:r>
          </a:p>
          <a:p>
            <a:pPr marL="1085850" lvl="2" indent="-171450">
              <a:buFont typeface="Arial"/>
              <a:buChar char="•"/>
            </a:pPr>
            <a:endParaRPr lang="ko-KR" altLang="en-US" sz="900">
              <a:latin typeface="Noto Sans KR" panose="020B0200000000000000" pitchFamily="50" charset="-127"/>
              <a:ea typeface="Noto Sans KR"/>
            </a:endParaRPr>
          </a:p>
          <a:p>
            <a:pPr marL="171450" indent="-171450">
              <a:buFontTx/>
              <a:buChar char="-"/>
            </a:pPr>
            <a:endParaRPr lang="ko-KR" altLang="en-US" sz="9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ko-KR" altLang="en-US" sz="9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Shape 3">
            <a:extLst>
              <a:ext uri="{FF2B5EF4-FFF2-40B4-BE49-F238E27FC236}">
                <a16:creationId xmlns:a16="http://schemas.microsoft.com/office/drawing/2014/main" id="{FAF4CCD0-7348-BBFD-6793-A3A0BDA0A44D}"/>
              </a:ext>
            </a:extLst>
          </p:cNvPr>
          <p:cNvSpPr/>
          <p:nvPr/>
        </p:nvSpPr>
        <p:spPr>
          <a:xfrm>
            <a:off x="8963296" y="4876798"/>
            <a:ext cx="2697480" cy="1724091"/>
          </a:xfrm>
          <a:prstGeom prst="roundRect">
            <a:avLst>
              <a:gd name="adj" fmla="val 4068"/>
            </a:avLst>
          </a:prstGeom>
          <a:solidFill>
            <a:srgbClr val="E6F4F4"/>
          </a:solidFill>
          <a:ln w="12700">
            <a:solidFill>
              <a:srgbClr val="C2E0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 lIns="91440" tIns="45720" rIns="91440" bIns="45720" anchor="t"/>
          <a:lstStyle/>
          <a:p>
            <a:r>
              <a:rPr lang="ko-KR" altLang="en-US" sz="900" b="1">
                <a:latin typeface="Noto Sans KR" panose="020B0200000000000000" pitchFamily="50" charset="-127"/>
                <a:ea typeface="Noto Sans KR"/>
              </a:rPr>
              <a:t>필요기능</a:t>
            </a:r>
            <a:r>
              <a:rPr lang="en-US" altLang="ko-KR" sz="900" b="1">
                <a:latin typeface="Noto Sans KR" panose="020B0200000000000000" pitchFamily="50" charset="-127"/>
                <a:ea typeface="Noto Sans KR"/>
              </a:rPr>
              <a:t>:</a:t>
            </a:r>
          </a:p>
          <a:p>
            <a:pPr marL="171450" indent="-171450">
              <a:buFont typeface="Calibri"/>
              <a:buChar char="-"/>
            </a:pPr>
            <a:r>
              <a:rPr lang="ko-KR" altLang="en-US" sz="900">
                <a:latin typeface="Noto Sans KR" panose="020B0200000000000000" pitchFamily="50" charset="-127"/>
                <a:ea typeface="Noto Sans KR"/>
              </a:rPr>
              <a:t>지문 난이도 데이터</a:t>
            </a:r>
          </a:p>
          <a:p>
            <a:pPr marL="171450" indent="-171450">
              <a:buFont typeface="Calibri"/>
              <a:buChar char="-"/>
            </a:pPr>
            <a:r>
              <a:rPr lang="ko-KR" altLang="en-US" sz="900">
                <a:latin typeface="Noto Sans KR" panose="020B0200000000000000" pitchFamily="50" charset="-127"/>
                <a:ea typeface="Noto Sans KR"/>
              </a:rPr>
              <a:t>문항별 정오답 기록 </a:t>
            </a:r>
          </a:p>
          <a:p>
            <a:pPr marL="171450" indent="-171450">
              <a:buFont typeface="Calibri"/>
              <a:buChar char="-"/>
            </a:pPr>
            <a:r>
              <a:rPr lang="ko-KR" altLang="en-US" sz="900">
                <a:latin typeface="Noto Sans KR" panose="020B0200000000000000" pitchFamily="50" charset="-127"/>
                <a:ea typeface="Noto Sans KR"/>
              </a:rPr>
              <a:t>문항 난이도별 정오답 기록</a:t>
            </a:r>
          </a:p>
          <a:p>
            <a:pPr marL="171450" indent="-171450">
              <a:buFont typeface="Calibri"/>
              <a:buChar char="-"/>
            </a:pPr>
            <a:r>
              <a:rPr lang="ko-KR" altLang="en-US" sz="900">
                <a:latin typeface="Noto Sans KR" panose="020B0200000000000000" pitchFamily="50" charset="-127"/>
                <a:ea typeface="Noto Sans KR"/>
              </a:rPr>
              <a:t>지문 선호도 데이터 (지문별 페르소나와의 interaction 차이, 정오답률, 세션 체류시간 등이 기준)</a:t>
            </a:r>
          </a:p>
          <a:p>
            <a:pPr marL="171450" indent="-171450">
              <a:buFont typeface="Calibri"/>
              <a:buChar char="-"/>
            </a:pPr>
            <a:r>
              <a:rPr lang="ko-KR" altLang="en-US" sz="900">
                <a:latin typeface="Noto Sans KR" panose="020B0200000000000000" pitchFamily="50" charset="-127"/>
                <a:ea typeface="Noto Sans KR"/>
              </a:rPr>
              <a:t>내부 레벨 외부기준과 매핑 필요</a:t>
            </a:r>
          </a:p>
        </p:txBody>
      </p:sp>
    </p:spTree>
    <p:extLst>
      <p:ext uri="{BB962C8B-B14F-4D97-AF65-F5344CB8AC3E}">
        <p14:creationId xmlns:p14="http://schemas.microsoft.com/office/powerpoint/2010/main" val="59214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05858"/>
          </a:solidFill>
          <a:ln w="12700">
            <a:solidFill>
              <a:srgbClr val="005858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학생 화면  ·  P0 필수 2개</a:t>
            </a:r>
            <a:endParaRPr lang="en-US" sz="18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961120" y="109728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007A7A"/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8961120" y="1097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PC/Mac 웹 Primary  ·  반응형 웹</a:t>
            </a:r>
            <a:endParaRPr 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669280" cy="5486400"/>
          </a:xfrm>
          <a:prstGeom prst="roundRect">
            <a:avLst>
              <a:gd name="adj" fmla="val 2000"/>
            </a:avLst>
          </a:prstGeom>
          <a:solidFill>
            <a:srgbClr val="E6F4F4"/>
          </a:solidFill>
          <a:ln w="12700">
            <a:solidFill>
              <a:srgbClr val="C2E0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731520" cy="329184"/>
          </a:xfrm>
          <a:prstGeom prst="roundRect">
            <a:avLst>
              <a:gd name="adj" fmla="val 16667"/>
            </a:avLst>
          </a:prstGeom>
          <a:solidFill>
            <a:srgbClr val="007A7A"/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5780" y="100584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① ②</a:t>
            </a:r>
            <a:r>
              <a:rPr lang="en-US" altLang="ko-KR" sz="1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④ </a:t>
            </a:r>
            <a:endParaRPr lang="en-US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43560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0585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세션 메인 화면</a:t>
            </a:r>
            <a:endParaRPr lang="en-US" sz="17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185623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지문 읽기 → </a:t>
            </a:r>
            <a:r>
              <a:rPr lang="ko-KR" altLang="en-US" sz="1000" i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문제 </a:t>
            </a:r>
            <a:r>
              <a:rPr lang="en-US" sz="1000" i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→ 학생 응답이 한 화면에서 통합 진행  ·  PC/Mac 웹 Primary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02920" y="2167128"/>
            <a:ext cx="5303520" cy="0"/>
          </a:xfrm>
          <a:prstGeom prst="line">
            <a:avLst/>
          </a:prstGeom>
          <a:noFill/>
          <a:ln w="12700">
            <a:solidFill>
              <a:srgbClr val="C2E0E0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2920" y="2295144"/>
            <a:ext cx="53035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2E0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3682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err="1">
                <a:solidFill>
                  <a:srgbClr val="00585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지문</a:t>
            </a: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+ </a:t>
            </a:r>
            <a:r>
              <a:rPr lang="ko-KR" alt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문항 </a:t>
            </a:r>
            <a:r>
              <a:rPr lang="en-US" sz="1200" b="1" err="1">
                <a:solidFill>
                  <a:srgbClr val="00585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패널</a:t>
            </a:r>
            <a:endParaRPr lang="en-US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267919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레벨 일부 운영 </a:t>
            </a:r>
            <a:endParaRPr 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2920" y="3209544"/>
            <a:ext cx="53035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2E0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32826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AI Agent 대화 패널</a:t>
            </a:r>
            <a:endParaRPr lang="en-US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359359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err="1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소크라틱</a:t>
            </a: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sz="1000" err="1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발문</a:t>
            </a: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→ </a:t>
            </a:r>
            <a:r>
              <a:rPr lang="en-US" sz="1000" err="1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학생</a:t>
            </a: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sz="1000" err="1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응답</a:t>
            </a: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→ </a:t>
            </a:r>
            <a:r>
              <a:rPr lang="en-US" sz="1000" err="1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비계</a:t>
            </a: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sz="1000" err="1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제공</a:t>
            </a: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. </a:t>
            </a:r>
            <a:r>
              <a:rPr lang="en-US" sz="1000" err="1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답을</a:t>
            </a: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sz="1000" err="1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주지</a:t>
            </a: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sz="1000" err="1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않되</a:t>
            </a: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sz="1000" err="1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막히지</a:t>
            </a: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sz="1000" err="1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않게</a:t>
            </a: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. AI Agent</a:t>
            </a:r>
            <a:r>
              <a:rPr lang="ko-KR" alt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는</a:t>
            </a: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ko-KR" alt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학습을</a:t>
            </a: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ko-KR" alt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주도하지</a:t>
            </a: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ko-KR" alt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않고</a:t>
            </a: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ko-KR" alt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메타적으로</a:t>
            </a: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ko-KR" alt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상호</a:t>
            </a: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ko-KR" alt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작용</a:t>
            </a: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ko-KR" alt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하는</a:t>
            </a: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ko-KR" alt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/>
                <a:cs typeface="Arial"/>
              </a:rPr>
              <a:t>형태 (학습에서 어려운 부분에 대한 소크라틱 발문으로 학생에게 정답을 유도하는 방식)</a:t>
            </a:r>
            <a:endParaRPr lang="ko-KR" altLang="en-US" sz="1000">
              <a:solidFill>
                <a:srgbClr val="1A2A2A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2920" y="4123944"/>
            <a:ext cx="53035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2E0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41970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err="1">
                <a:solidFill>
                  <a:srgbClr val="00585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페르소나</a:t>
            </a: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en-US" sz="1200" b="1" err="1">
                <a:solidFill>
                  <a:srgbClr val="00585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구분</a:t>
            </a: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로깅</a:t>
            </a:r>
            <a:endParaRPr lang="en-US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" y="450799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</a:t>
            </a:r>
            <a:r>
              <a:rPr lang="ko-KR" altLang="en-US" sz="11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주에 한번씩 페르소나를 변경하여 </a:t>
            </a:r>
            <a:r>
              <a:rPr lang="en-US" sz="1100" err="1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어떤</a:t>
            </a:r>
            <a:r>
              <a:rPr lang="en-US" sz="11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페르소나·Endorse 톤이 응답 지속성을 만드는지 </a:t>
            </a:r>
            <a:r>
              <a:rPr lang="en-US" sz="1100" err="1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파일럿에서</a:t>
            </a:r>
            <a:r>
              <a:rPr lang="en-US" sz="11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en-US" sz="1100" err="1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비교</a:t>
            </a:r>
            <a:r>
              <a:rPr lang="en-US" sz="11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(</a:t>
            </a:r>
            <a:r>
              <a:rPr lang="ko-KR" altLang="en-US" sz="11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세션완료율</a:t>
            </a:r>
            <a:r>
              <a:rPr lang="en-US" altLang="ko-KR" sz="11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, </a:t>
            </a:r>
            <a:r>
              <a:rPr lang="ko-KR" altLang="en-US" sz="11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학습성취도</a:t>
            </a:r>
            <a:r>
              <a:rPr lang="en-US" altLang="ko-KR" sz="11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, </a:t>
            </a:r>
            <a:r>
              <a:rPr lang="ko-KR" altLang="en-US" sz="11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파일럿 종료 후 설문을 통해 데이터확보</a:t>
            </a:r>
            <a:r>
              <a:rPr lang="en-US" altLang="ko-KR" sz="11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)</a:t>
            </a:r>
            <a:endParaRPr 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2920" y="5038344"/>
            <a:ext cx="53035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2E0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" y="51114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문항 유형·난이도 응답 패턴 기록</a:t>
            </a:r>
            <a:endParaRPr lang="en-US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542239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강한 유형 / 약한 유형 / 선호 패턴 → 학부모 리포트 데이터 원천</a:t>
            </a:r>
            <a:endParaRPr 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920" y="5989320"/>
            <a:ext cx="5303520" cy="246888"/>
          </a:xfrm>
          <a:prstGeom prst="roundRect">
            <a:avLst>
              <a:gd name="adj" fmla="val 22222"/>
            </a:avLst>
          </a:prstGeom>
          <a:solidFill>
            <a:srgbClr val="007A7A"/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2920" y="5989320"/>
            <a:ext cx="53035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측정: ① 세션 완료율  ② AI Agent 페르소나 반응  ④ 학습 패턴 데이터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63640" y="868680"/>
            <a:ext cx="5577840" cy="5486400"/>
          </a:xfrm>
          <a:prstGeom prst="roundRect">
            <a:avLst>
              <a:gd name="adj" fmla="val 2000"/>
            </a:avLst>
          </a:prstGeom>
          <a:solidFill>
            <a:srgbClr val="FFF8F8"/>
          </a:solidFill>
          <a:ln w="25400">
            <a:solidFill>
              <a:srgbClr val="CC444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0" y="1005840"/>
            <a:ext cx="594360" cy="329184"/>
          </a:xfrm>
          <a:prstGeom prst="roundRect">
            <a:avLst>
              <a:gd name="adj" fmla="val 16667"/>
            </a:avLst>
          </a:prstGeom>
          <a:solidFill>
            <a:srgbClr val="007A7A"/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0" y="100584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① ②</a:t>
            </a:r>
            <a:endParaRPr lang="en-US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00800" y="143560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0585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세션 종료 화면 + 학생 리포트</a:t>
            </a:r>
            <a:endParaRPr lang="en-US" sz="17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00800" y="185623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학생이 완료 버튼을 누르는 순간 완료 데이터 자동 기록  ·  AI Agent 학생 눈높이 톤으로 직접 전달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46520" y="2167128"/>
            <a:ext cx="5212080" cy="0"/>
          </a:xfrm>
          <a:prstGeom prst="line">
            <a:avLst/>
          </a:prstGeom>
          <a:noFill/>
          <a:ln w="12700">
            <a:solidFill>
              <a:srgbClr val="DDAAA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46520" y="2295144"/>
            <a:ext cx="521208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AAA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537960" y="2386584"/>
            <a:ext cx="329184" cy="329184"/>
          </a:xfrm>
          <a:prstGeom prst="ellipse">
            <a:avLst/>
          </a:prstGeom>
          <a:solidFill>
            <a:srgbClr val="009977"/>
          </a:solidFill>
          <a:ln w="12700">
            <a:solidFill>
              <a:srgbClr val="009977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537960" y="238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✓</a:t>
            </a:r>
            <a:endParaRPr lang="en-US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940296" y="23865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오늘 배운 것</a:t>
            </a:r>
            <a:endParaRPr lang="en-US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940296" y="27157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오늘 다룬 지문 주제 + 어떤 방식으로 이해했는지 요약</a:t>
            </a:r>
            <a:endParaRPr 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446520" y="3300984"/>
            <a:ext cx="521208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AAA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537960" y="3392424"/>
            <a:ext cx="329184" cy="329184"/>
          </a:xfrm>
          <a:prstGeom prst="ellipse">
            <a:avLst/>
          </a:prstGeom>
          <a:solidFill>
            <a:srgbClr val="007A7A"/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537960" y="3392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↑</a:t>
            </a:r>
            <a:endParaRPr lang="en-US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940296" y="33924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지난 레슨 대비 좋아진 점</a:t>
            </a:r>
            <a:endParaRPr lang="en-US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940296" y="372160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AI가 관찰한 구체적 변화 — 근거를 지난번 1개에서 오늘 3개 찾았어</a:t>
            </a:r>
            <a:endParaRPr 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446520" y="4306824"/>
            <a:ext cx="521208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AAA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537960" y="4398264"/>
            <a:ext cx="329184" cy="329184"/>
          </a:xfrm>
          <a:prstGeom prst="ellipse">
            <a:avLst/>
          </a:prstGeom>
          <a:solidFill>
            <a:srgbClr val="CC8800"/>
          </a:solidFill>
          <a:ln w="12700">
            <a:solidFill>
              <a:srgbClr val="CC8800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537960" y="4398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→</a:t>
            </a:r>
            <a:endParaRPr lang="en-US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940296" y="43982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조금 더 보강할 부분</a:t>
            </a:r>
            <a:endParaRPr lang="en-US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940296" y="472744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같은 패턴 반복·약한 유형 등 다음 세션 예고와 연결</a:t>
            </a:r>
            <a:endParaRPr 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446520" y="5422392"/>
            <a:ext cx="5212080" cy="347472"/>
          </a:xfrm>
          <a:prstGeom prst="roundRect">
            <a:avLst>
              <a:gd name="adj" fmla="val 15789"/>
            </a:avLst>
          </a:prstGeom>
          <a:solidFill>
            <a:srgbClr val="FAE8E8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446520" y="5422392"/>
            <a:ext cx="52120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C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⚠  이 화면이 없으면 완료율 KPI + 학생 리포트 데이터 모두 측정 불가</a:t>
            </a:r>
            <a:endParaRPr 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446520" y="5861304"/>
            <a:ext cx="5212080" cy="365760"/>
          </a:xfrm>
          <a:prstGeom prst="roundRect">
            <a:avLst>
              <a:gd name="adj" fmla="val 15000"/>
            </a:avLst>
          </a:prstGeom>
          <a:solidFill>
            <a:srgbClr val="007A7A"/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446520" y="5861304"/>
            <a:ext cx="52120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측정: ① 세션 완료율 (완료 버튼 → 데이터 자동 기록)  ② 페르소나·Endorse 반응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AAAAA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Creverse  |  AI Biz Div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05858"/>
          </a:solidFill>
          <a:ln w="12700">
            <a:solidFill>
              <a:srgbClr val="005858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성장이 보이는 경험  ·  학생 리포트 + 학부모 리포트</a:t>
            </a:r>
            <a:endParaRPr lang="en-US" sz="18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149840" y="109728"/>
            <a:ext cx="1691640" cy="457200"/>
          </a:xfrm>
          <a:prstGeom prst="roundRect">
            <a:avLst>
              <a:gd name="adj" fmla="val 16000"/>
            </a:avLst>
          </a:prstGeom>
          <a:solidFill>
            <a:srgbClr val="007A7A"/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149840" y="1097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KC &amp; KT 반영은 이후 단계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11521440" cy="384048"/>
          </a:xfrm>
          <a:prstGeom prst="roundRect">
            <a:avLst>
              <a:gd name="adj" fmla="val 19048"/>
            </a:avLst>
          </a:prstGeom>
          <a:solidFill>
            <a:srgbClr val="E6F4F4"/>
          </a:solidFill>
          <a:ln w="12700">
            <a:solidFill>
              <a:srgbClr val="C2E0E0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>
                <a:solidFill>
                  <a:srgbClr val="00585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"아이가 자라야 갱신된다" — 학생은 매 세션 성장을 체감하고, 학부모는 4주 단위 추이로 자녀의 성장을 확인한다. 8~12주 파일럿이 필요한 이유.</a:t>
            </a:r>
            <a:endParaRPr 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5394960" cy="5321808"/>
          </a:xfrm>
          <a:prstGeom prst="roundRect">
            <a:avLst>
              <a:gd name="adj" fmla="val 2062"/>
            </a:avLst>
          </a:prstGeom>
          <a:solidFill>
            <a:srgbClr val="F0FBF8"/>
          </a:solidFill>
          <a:ln w="12700">
            <a:solidFill>
              <a:srgbClr val="B2DDD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435608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009977"/>
          </a:solidFill>
          <a:ln w="12700">
            <a:solidFill>
              <a:srgbClr val="009977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1435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학생</a:t>
            </a:r>
            <a:endParaRPr 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1747375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5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세션 전·후 리포트</a:t>
            </a:r>
            <a:endParaRPr lang="en-US" sz="15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2149711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접속 시 + 종료 시  ·  학생 눈높이 톤  ·  AI Agent 직접 전달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" y="2523744"/>
            <a:ext cx="5029200" cy="0"/>
          </a:xfrm>
          <a:prstGeom prst="line">
            <a:avLst/>
          </a:prstGeom>
          <a:noFill/>
          <a:ln w="12700">
            <a:solidFill>
              <a:srgbClr val="B2DDD4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2920" y="2615184"/>
            <a:ext cx="50292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B2DDD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76072" y="2688336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009977"/>
          </a:solidFill>
          <a:ln w="12700">
            <a:solidFill>
              <a:srgbClr val="009977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76072" y="26883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접속</a:t>
            </a:r>
            <a:r>
              <a:rPr lang="en-US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시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4840" y="3100251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- Icebreaking, </a:t>
            </a:r>
            <a:r>
              <a:rPr lang="ko-KR" altLang="en-US" sz="1000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학습 외 주제로 학생들 관심 유도</a:t>
            </a:r>
          </a:p>
          <a:p>
            <a:endParaRPr lang="ko-KR" altLang="en-US" sz="1000">
              <a:solidFill>
                <a:srgbClr val="666666"/>
              </a:solidFill>
              <a:latin typeface="Noto Sans KR" panose="020B0200000000000000" pitchFamily="50" charset="-127"/>
              <a:ea typeface="Noto Sans KR"/>
              <a:cs typeface="Arial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2920" y="4407408"/>
            <a:ext cx="50292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B2DDD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76072" y="4480560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009977"/>
          </a:solidFill>
          <a:ln w="12700">
            <a:solidFill>
              <a:srgbClr val="009977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76072" y="44805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종료 시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76072" y="482803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07A7A"/>
          </a:solidFill>
          <a:ln w="12700">
            <a:solidFill>
              <a:srgbClr val="009977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76072" y="4828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✓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86968" y="48280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5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오늘 배운 것: 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313432" y="482803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B2 수준 논증 지문 이해 + 반박 구조 파악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76072" y="530352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09977"/>
          </a:solidFill>
          <a:ln w="12700">
            <a:solidFill>
              <a:srgbClr val="009977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76072" y="5303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↑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86968" y="5303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5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지난 레슨 대비 좋아진 점: 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313432" y="530352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근거 제시 속도 — 지난번 3회 → 오늘 5회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76072" y="577900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07A7A"/>
          </a:solidFill>
          <a:ln w="12700">
            <a:solidFill>
              <a:srgbClr val="009977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76072" y="5779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→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86968" y="57790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55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조금 더 보강할 부분: 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313432" y="5779008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반박 수용 표현 다양화 (같은 패턴 반복 중)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02920" y="6263640"/>
            <a:ext cx="5029200" cy="246888"/>
          </a:xfrm>
          <a:prstGeom prst="roundRect">
            <a:avLst>
              <a:gd name="adj" fmla="val 22222"/>
            </a:avLst>
          </a:prstGeom>
          <a:solidFill>
            <a:srgbClr val="009977"/>
          </a:solidFill>
          <a:ln w="12700">
            <a:solidFill>
              <a:srgbClr val="009977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02920" y="6263640"/>
            <a:ext cx="502920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측정: ② AI Agent 페르소나 반응  ·  ① 세션 완료율 지속성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989320" y="1298448"/>
            <a:ext cx="5852160" cy="5321808"/>
          </a:xfrm>
          <a:prstGeom prst="roundRect">
            <a:avLst>
              <a:gd name="adj" fmla="val 2062"/>
            </a:avLst>
          </a:prstGeom>
          <a:solidFill>
            <a:srgbClr val="E6F4F4"/>
          </a:solidFill>
          <a:ln w="12700">
            <a:solidFill>
              <a:srgbClr val="C2E0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126480" y="1435608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007A7A"/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126480" y="1435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학부모</a:t>
            </a:r>
            <a:endParaRPr 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126480" y="1747375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585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성장 리포트</a:t>
            </a:r>
            <a:endParaRPr lang="en-US" sz="15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126480" y="2149711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언제든 열람 가능  ·  성과 </a:t>
            </a:r>
            <a:r>
              <a:rPr lang="en-US" sz="1000" i="1" err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알림만</a:t>
            </a:r>
            <a:r>
              <a:rPr lang="en-US" sz="1000" i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00" i="1" err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앱알림</a:t>
            </a:r>
            <a:r>
              <a:rPr lang="ko-KR" altLang="en-US" sz="1000" i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en-US" altLang="ko-KR" sz="1000" i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/ </a:t>
            </a:r>
            <a:r>
              <a:rPr lang="en-US" sz="1000" i="1" err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카카오톡</a:t>
            </a:r>
            <a:r>
              <a:rPr lang="en-US" sz="1000" i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발송  · </a:t>
            </a:r>
            <a:r>
              <a:rPr lang="ko-KR" altLang="en-US" sz="1000" i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앱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172200" y="2523744"/>
            <a:ext cx="5486400" cy="0"/>
          </a:xfrm>
          <a:prstGeom prst="line">
            <a:avLst/>
          </a:prstGeom>
          <a:noFill/>
          <a:ln w="12700">
            <a:solidFill>
              <a:srgbClr val="C2E0E0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172200" y="2615184"/>
            <a:ext cx="2995574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C2E0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263640" y="2706624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07A7A"/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263640" y="27066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데일리 세션 로그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281928" y="3054096"/>
            <a:ext cx="27944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▸  </a:t>
            </a:r>
            <a:r>
              <a:rPr lang="ko-KR" alt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학습한</a:t>
            </a: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en-US" sz="1000" err="1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지문</a:t>
            </a: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en-US" sz="1000" err="1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난이도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281928" y="3401568"/>
            <a:ext cx="27944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▸  </a:t>
            </a:r>
            <a:r>
              <a:rPr lang="ko-KR" alt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아이가</a:t>
            </a: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강한 문항 유형 / 약한 문항 유형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281928" y="3749040"/>
            <a:ext cx="27944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▸  </a:t>
            </a:r>
            <a:r>
              <a:rPr lang="ko-KR" alt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아이의 </a:t>
            </a:r>
            <a:r>
              <a:rPr lang="en-US" sz="1000" err="1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선호</a:t>
            </a: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난이도 · 유형 패턴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281928" y="4096512"/>
            <a:ext cx="27944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▸  세션 시간 · 완료 여부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281928" y="4315968"/>
            <a:ext cx="27944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매 세션 후 </a:t>
            </a:r>
            <a:r>
              <a:rPr lang="en-US" sz="900" i="1" err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자동</a:t>
            </a:r>
            <a:r>
              <a:rPr lang="en-US" sz="900" i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en-US" sz="900" i="1" err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업데이트</a:t>
            </a:r>
            <a:r>
              <a:rPr lang="en-US" sz="900" i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(</a:t>
            </a:r>
            <a:r>
              <a:rPr lang="ko-KR" altLang="en-US" sz="900" i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알림은 따로 발송하지 않음</a:t>
            </a:r>
            <a:r>
              <a:rPr lang="en-US" altLang="ko-KR" sz="900" i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)</a:t>
            </a:r>
            <a:endParaRPr lang="en-US" sz="9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9304934" y="2615184"/>
            <a:ext cx="2353666" cy="1874520"/>
          </a:xfrm>
          <a:prstGeom prst="roundRect">
            <a:avLst>
              <a:gd name="adj" fmla="val 4390"/>
            </a:avLst>
          </a:prstGeom>
          <a:solidFill>
            <a:srgbClr val="FFFBE6"/>
          </a:solidFill>
          <a:ln w="12700">
            <a:solidFill>
              <a:srgbClr val="E8C80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9396374" y="2706624"/>
            <a:ext cx="2170786" cy="256032"/>
          </a:xfrm>
          <a:prstGeom prst="roundRect">
            <a:avLst>
              <a:gd name="adj" fmla="val 21429"/>
            </a:avLst>
          </a:prstGeom>
          <a:solidFill>
            <a:srgbClr val="E8B800"/>
          </a:solidFill>
          <a:ln w="12700">
            <a:solidFill>
              <a:srgbClr val="E8B800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9396374" y="2706624"/>
            <a:ext cx="2170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앱 알림 </a:t>
            </a:r>
            <a:r>
              <a:rPr lang="en-US" altLang="ko-KR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/ </a:t>
            </a:r>
            <a:r>
              <a:rPr lang="ko-KR" altLang="en-US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카카오톡 알림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414662" y="3054096"/>
            <a:ext cx="2152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7A58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성과 포인트에서만 발송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414662" y="3364992"/>
            <a:ext cx="2152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A58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✦  새 난이도 지문 첫 이해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9414662" y="3694176"/>
            <a:ext cx="2152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A58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✦  </a:t>
            </a:r>
            <a:r>
              <a:rPr lang="ko-KR" altLang="en-US" sz="1000">
                <a:solidFill>
                  <a:srgbClr val="7A58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지식</a:t>
            </a:r>
            <a:r>
              <a:rPr lang="en-US" altLang="ko-KR" sz="1000">
                <a:solidFill>
                  <a:srgbClr val="7A58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,</a:t>
            </a:r>
            <a:r>
              <a:rPr lang="ko-KR" altLang="en-US" sz="1000">
                <a:solidFill>
                  <a:srgbClr val="7A58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논리</a:t>
            </a:r>
            <a:r>
              <a:rPr lang="en-US" altLang="ko-KR" sz="1000">
                <a:solidFill>
                  <a:srgbClr val="7A58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,</a:t>
            </a:r>
            <a:r>
              <a:rPr lang="ko-KR" altLang="en-US" sz="1000">
                <a:solidFill>
                  <a:srgbClr val="7A58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의미 항목 중 성장 시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9414662" y="4023360"/>
            <a:ext cx="2152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A58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✦  주간 스트릭 달성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9396374" y="4279392"/>
            <a:ext cx="2170786" cy="201168"/>
          </a:xfrm>
          <a:prstGeom prst="roundRect">
            <a:avLst>
              <a:gd name="adj" fmla="val 21429"/>
            </a:avLst>
          </a:prstGeom>
          <a:solidFill>
            <a:srgbClr val="FFF3B0"/>
          </a:solidFill>
          <a:ln w="12700">
            <a:solidFill>
              <a:srgbClr val="E8C800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9396374" y="4279392"/>
            <a:ext cx="2170786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7A58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자주 오면 피로감 ↑  성과 시만 발송</a:t>
            </a:r>
            <a:endParaRPr lang="en-US" sz="9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6172200" y="4590288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C2E0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6263640" y="4681728"/>
            <a:ext cx="1920240" cy="256032"/>
          </a:xfrm>
          <a:prstGeom prst="roundRect">
            <a:avLst>
              <a:gd name="adj" fmla="val 21429"/>
            </a:avLst>
          </a:prstGeom>
          <a:solidFill>
            <a:srgbClr val="007A7A"/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6263640" y="4681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4주 단위 성장 추이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8275320" y="47091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차트 + AI 코멘트  ·  8~12주 파일럿 = 2~3회 추이 비교 가능</a:t>
            </a:r>
            <a:endParaRPr lang="en-US" sz="9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6309360" y="5029200"/>
            <a:ext cx="201168" cy="146304"/>
          </a:xfrm>
          <a:prstGeom prst="rect">
            <a:avLst/>
          </a:prstGeom>
          <a:solidFill>
            <a:srgbClr val="C2E0E0"/>
          </a:solidFill>
          <a:ln w="12700">
            <a:solidFill>
              <a:srgbClr val="C2E0E0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6547104" y="502920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1~4주</a:t>
            </a:r>
            <a:endParaRPr lang="en-US" sz="9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7543800" y="5029200"/>
            <a:ext cx="201168" cy="146304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7781544" y="502920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5~8주</a:t>
            </a:r>
            <a:endParaRPr lang="en-US" sz="9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8778240" y="5029200"/>
            <a:ext cx="201168" cy="146304"/>
          </a:xfrm>
          <a:prstGeom prst="rect">
            <a:avLst/>
          </a:prstGeom>
          <a:solidFill>
            <a:srgbClr val="005858"/>
          </a:solidFill>
          <a:ln w="12700">
            <a:solidFill>
              <a:srgbClr val="005858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9015984" y="502920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9~12주</a:t>
            </a:r>
            <a:endParaRPr lang="en-US" sz="9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6309360" y="52852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고난이도 </a:t>
            </a:r>
            <a:r>
              <a:rPr lang="en-US" sz="900" err="1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지문</a:t>
            </a:r>
            <a:r>
              <a:rPr lang="en-US" sz="9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이해</a:t>
            </a:r>
            <a:endParaRPr lang="en-US" sz="9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7772400" y="5303520"/>
            <a:ext cx="1097280" cy="64008"/>
          </a:xfrm>
          <a:prstGeom prst="roundRect">
            <a:avLst>
              <a:gd name="adj" fmla="val 28571"/>
            </a:avLst>
          </a:prstGeom>
          <a:solidFill>
            <a:srgbClr val="C2E0E0">
              <a:alpha val="60000"/>
            </a:srgbClr>
          </a:solidFill>
          <a:ln w="12700">
            <a:solidFill>
              <a:srgbClr val="C2E0E0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7772400" y="5385816"/>
            <a:ext cx="1554480" cy="64008"/>
          </a:xfrm>
          <a:prstGeom prst="roundRect">
            <a:avLst>
              <a:gd name="adj" fmla="val 28571"/>
            </a:avLst>
          </a:prstGeom>
          <a:solidFill>
            <a:srgbClr val="007A7A">
              <a:alpha val="80000"/>
            </a:srgbClr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7772400" y="5468112"/>
            <a:ext cx="2011680" cy="64008"/>
          </a:xfrm>
          <a:prstGeom prst="roundRect">
            <a:avLst>
              <a:gd name="adj" fmla="val 28571"/>
            </a:avLst>
          </a:prstGeom>
          <a:solidFill>
            <a:srgbClr val="005858"/>
          </a:solidFill>
          <a:ln w="12700">
            <a:solidFill>
              <a:srgbClr val="005858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6309360" y="56327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강점 문항 적중률</a:t>
            </a:r>
            <a:endParaRPr lang="en-US" sz="9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7772400" y="5650992"/>
            <a:ext cx="914400" cy="64008"/>
          </a:xfrm>
          <a:prstGeom prst="roundRect">
            <a:avLst>
              <a:gd name="adj" fmla="val 28571"/>
            </a:avLst>
          </a:prstGeom>
          <a:solidFill>
            <a:srgbClr val="C2E0E0">
              <a:alpha val="60000"/>
            </a:srgbClr>
          </a:solidFill>
          <a:ln w="12700">
            <a:solidFill>
              <a:srgbClr val="C2E0E0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7772400" y="5733288"/>
            <a:ext cx="1371600" cy="64008"/>
          </a:xfrm>
          <a:prstGeom prst="roundRect">
            <a:avLst>
              <a:gd name="adj" fmla="val 28571"/>
            </a:avLst>
          </a:prstGeom>
          <a:solidFill>
            <a:srgbClr val="007A7A">
              <a:alpha val="80000"/>
            </a:srgbClr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7772400" y="5815584"/>
            <a:ext cx="1828800" cy="64008"/>
          </a:xfrm>
          <a:prstGeom prst="roundRect">
            <a:avLst>
              <a:gd name="adj" fmla="val 28571"/>
            </a:avLst>
          </a:prstGeom>
          <a:solidFill>
            <a:srgbClr val="005858"/>
          </a:solidFill>
          <a:ln w="12700">
            <a:solidFill>
              <a:srgbClr val="005858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6309360" y="59801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약점 문항 개선도</a:t>
            </a:r>
            <a:endParaRPr lang="en-US" sz="9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7772400" y="5998464"/>
            <a:ext cx="548640" cy="64008"/>
          </a:xfrm>
          <a:prstGeom prst="roundRect">
            <a:avLst>
              <a:gd name="adj" fmla="val 28571"/>
            </a:avLst>
          </a:prstGeom>
          <a:solidFill>
            <a:srgbClr val="C2E0E0">
              <a:alpha val="60000"/>
            </a:srgbClr>
          </a:solidFill>
          <a:ln w="12700">
            <a:solidFill>
              <a:srgbClr val="C2E0E0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7772400" y="6080760"/>
            <a:ext cx="914400" cy="64008"/>
          </a:xfrm>
          <a:prstGeom prst="roundRect">
            <a:avLst>
              <a:gd name="adj" fmla="val 28571"/>
            </a:avLst>
          </a:prstGeom>
          <a:solidFill>
            <a:srgbClr val="007A7A">
              <a:alpha val="80000"/>
            </a:srgbClr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7772400" y="6163056"/>
            <a:ext cx="1463040" cy="64008"/>
          </a:xfrm>
          <a:prstGeom prst="roundRect">
            <a:avLst>
              <a:gd name="adj" fmla="val 28571"/>
            </a:avLst>
          </a:prstGeom>
          <a:solidFill>
            <a:srgbClr val="005858"/>
          </a:solidFill>
          <a:ln w="12700">
            <a:solidFill>
              <a:srgbClr val="005858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6309360" y="6007608"/>
            <a:ext cx="5212080" cy="228600"/>
          </a:xfrm>
          <a:prstGeom prst="roundRect">
            <a:avLst>
              <a:gd name="adj" fmla="val 24000"/>
            </a:avLst>
          </a:prstGeom>
          <a:solidFill>
            <a:srgbClr val="E6F4F4"/>
          </a:solidFill>
          <a:ln w="12700">
            <a:solidFill>
              <a:srgbClr val="C2E0E0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6355080" y="6007608"/>
            <a:ext cx="51206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00585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AI 코멘트: "8주차부터 B2 지문 이해율이 안정적으로 올라왔습니다. 약점이었던 추론형 문항 개선이 두드러집니다."</a:t>
            </a:r>
            <a:endParaRPr lang="en-US" sz="8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6172200" y="6263640"/>
            <a:ext cx="5486400" cy="246888"/>
          </a:xfrm>
          <a:prstGeom prst="roundRect">
            <a:avLst>
              <a:gd name="adj" fmla="val 22222"/>
            </a:avLst>
          </a:prstGeom>
          <a:solidFill>
            <a:srgbClr val="007A7A"/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6172200" y="6263640"/>
            <a:ext cx="548640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측정: ③ 리포트 열람률  ·  알림 오픈율  ·  4주 추이 섹션 체류 시간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AAAAA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Creverse  |  AI Biz Div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7" name="Text 17">
            <a:extLst>
              <a:ext uri="{FF2B5EF4-FFF2-40B4-BE49-F238E27FC236}">
                <a16:creationId xmlns:a16="http://schemas.microsoft.com/office/drawing/2014/main" id="{4D0982BD-E77A-EFB5-3A60-41C588CBC797}"/>
              </a:ext>
            </a:extLst>
          </p:cNvPr>
          <p:cNvSpPr/>
          <p:nvPr/>
        </p:nvSpPr>
        <p:spPr>
          <a:xfrm>
            <a:off x="625711" y="3378054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- </a:t>
            </a:r>
            <a:r>
              <a:rPr lang="ko-KR" altLang="en-US" sz="1000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지난 시간 레슨 복기</a:t>
            </a:r>
            <a:r>
              <a:rPr lang="en-US" altLang="ko-KR" sz="1000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ko-KR" altLang="en-US" sz="1000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및 오늘 배울 레슨 </a:t>
            </a:r>
            <a:r>
              <a:rPr lang="en-US" altLang="ko-KR" sz="1000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preview</a:t>
            </a:r>
          </a:p>
          <a:p>
            <a:r>
              <a:rPr lang="en-US" altLang="ko-KR" sz="1000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-</a:t>
            </a:r>
            <a:r>
              <a:rPr lang="en-US" altLang="ko-KR" sz="1000" err="1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레슨</a:t>
            </a:r>
            <a:r>
              <a:rPr lang="en-US" altLang="ko-KR" sz="1000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altLang="ko-KR" sz="1000" err="1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시작후</a:t>
            </a:r>
            <a:r>
              <a:rPr lang="en-US" altLang="ko-KR" sz="1000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altLang="ko-KR" sz="1000" err="1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페르소나는</a:t>
            </a:r>
            <a:r>
              <a:rPr lang="en-US" altLang="ko-KR" sz="1000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altLang="ko-KR" sz="1000" err="1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학생이</a:t>
            </a:r>
            <a:r>
              <a:rPr lang="en-US" altLang="ko-KR" sz="1000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altLang="ko-KR" sz="1000" err="1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막힌</a:t>
            </a:r>
            <a:r>
              <a:rPr lang="en-US" altLang="ko-KR" sz="1000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altLang="ko-KR" sz="1000" err="1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질문에</a:t>
            </a:r>
            <a:r>
              <a:rPr lang="en-US" altLang="ko-KR" sz="1000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altLang="ko-KR" sz="1000" err="1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대한</a:t>
            </a:r>
            <a:r>
              <a:rPr lang="en-US" altLang="ko-KR" sz="1000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altLang="ko-KR" sz="1000" err="1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소크라틱</a:t>
            </a:r>
            <a:r>
              <a:rPr lang="en-US" altLang="ko-KR" sz="1000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altLang="ko-KR" sz="1000" err="1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발문</a:t>
            </a:r>
            <a:r>
              <a:rPr lang="en-US" altLang="ko-KR" sz="1000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(</a:t>
            </a:r>
            <a:r>
              <a:rPr lang="en-US" altLang="ko-KR" sz="1000" err="1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학습주도</a:t>
            </a:r>
            <a:r>
              <a:rPr lang="en-US" altLang="ko-KR" sz="1000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x)</a:t>
            </a:r>
          </a:p>
          <a:p>
            <a:endParaRPr lang="en-US" altLang="ko-KR" sz="1000">
              <a:solidFill>
                <a:srgbClr val="666666"/>
              </a:solidFill>
              <a:latin typeface="Noto Sans KR" panose="020B0200000000000000" pitchFamily="50" charset="-127"/>
              <a:ea typeface="Noto Sans KR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05858"/>
          </a:solidFill>
          <a:ln w="12700">
            <a:solidFill>
              <a:srgbClr val="005858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12월 MVP 개발 범위 요약</a:t>
            </a:r>
            <a:endParaRPr lang="en-US" sz="18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5577840" cy="4784738"/>
          </a:xfrm>
          <a:prstGeom prst="roundRect">
            <a:avLst>
              <a:gd name="adj" fmla="val 2222"/>
            </a:avLst>
          </a:prstGeom>
          <a:solidFill>
            <a:srgbClr val="E6F4F4"/>
          </a:solidFill>
          <a:ln w="25400">
            <a:solidFill>
              <a:srgbClr val="007A7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007A7A"/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P0  ·  반드시 개발</a:t>
            </a:r>
            <a:endParaRPr lang="en-US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5257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2E0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26280" y="155448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007A7A"/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2628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① ②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21792" y="149047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7A7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[학생]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1792" y="17282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err="1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세션</a:t>
            </a:r>
            <a:r>
              <a:rPr 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메인</a:t>
            </a:r>
            <a:r>
              <a:rPr 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화면</a:t>
            </a:r>
            <a:r>
              <a:rPr 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– </a:t>
            </a:r>
            <a:r>
              <a:rPr lang="ko-KR" alt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지문 </a:t>
            </a:r>
            <a:r>
              <a:rPr 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+ AI Agent </a:t>
            </a:r>
            <a:r>
              <a:rPr lang="en-US" sz="1050" err="1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대화</a:t>
            </a:r>
            <a:r>
              <a:rPr 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(문항 </a:t>
            </a:r>
            <a:r>
              <a:rPr lang="en-US" sz="1050" err="1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유형·난이도</a:t>
            </a:r>
            <a:r>
              <a:rPr 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</a:t>
            </a:r>
            <a:r>
              <a:rPr lang="ko-KR" alt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응답 패턴</a:t>
            </a:r>
            <a:r>
              <a:rPr 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 로깅 포함)</a:t>
            </a:r>
            <a:endParaRPr lang="en-US" sz="105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2920" y="2171233"/>
            <a:ext cx="5257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2E0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26280" y="2308393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007A7A"/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26280" y="23083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① ②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1792" y="2244385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7A7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[학생]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1792" y="248212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세션 종료 화면 + 학생 리포트 (오늘 배운 것 / 좋아진 점 / 보강점) ⚠</a:t>
            </a:r>
            <a:endParaRPr lang="en-US" sz="105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02920" y="2921041"/>
            <a:ext cx="5257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2E0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26280" y="3058201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007A7A"/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26280" y="305820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③ ④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1792" y="2994193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7A7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[학부모]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1792" y="3231937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데일리 세션 로그 + 4주 단위 성장 추이 (차트 + AI 코멘트)</a:t>
            </a:r>
            <a:endParaRPr lang="en-US" sz="105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02920" y="3670849"/>
            <a:ext cx="5257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2E0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26280" y="3808009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007A7A"/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26280" y="38080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③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21792" y="3744001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7A7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[학부모]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21792" y="3981745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리포트 앱 </a:t>
            </a:r>
            <a:r>
              <a:rPr lang="en-US" altLang="ko-KR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– </a:t>
            </a:r>
            <a:r>
              <a:rPr lang="ko-KR" altLang="en-US" sz="1050" err="1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데일리로그</a:t>
            </a:r>
            <a:r>
              <a:rPr lang="en-US" altLang="ko-KR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, </a:t>
            </a:r>
            <a:r>
              <a:rPr lang="ko-KR" alt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성장리포트</a:t>
            </a:r>
            <a:r>
              <a:rPr lang="en-US" altLang="ko-KR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, 1:1 </a:t>
            </a:r>
            <a:r>
              <a:rPr lang="ko-KR" alt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문의</a:t>
            </a:r>
            <a:r>
              <a:rPr lang="en-US" altLang="ko-KR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, </a:t>
            </a:r>
            <a:r>
              <a:rPr lang="ko-KR" alt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카카오톡</a:t>
            </a:r>
            <a:r>
              <a:rPr lang="en-US" altLang="ko-KR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/</a:t>
            </a:r>
            <a:r>
              <a:rPr lang="ko-KR" altLang="en-US" sz="1050">
                <a:solidFill>
                  <a:srgbClr val="1A2A2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앱 알림 등 </a:t>
            </a:r>
            <a:endParaRPr lang="en-US" sz="105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217920" y="822960"/>
            <a:ext cx="5623560" cy="4784738"/>
          </a:xfrm>
          <a:prstGeom prst="roundRect">
            <a:avLst>
              <a:gd name="adj" fmla="val 2222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355080" y="896112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355080" y="8961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파일럿 이후로 미룸</a:t>
            </a:r>
            <a:endParaRPr lang="en-US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400800" y="141732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537960" y="14721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KT</a:t>
            </a:r>
            <a:r>
              <a:rPr lang="ko-KR" altLang="en-US" sz="1300" b="1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 </a:t>
            </a:r>
            <a:r>
              <a:rPr lang="en-US" sz="1300" b="1" err="1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반영</a:t>
            </a:r>
            <a:r>
              <a:rPr lang="en-US" sz="1300" b="1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sz="1300" b="1" err="1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성장</a:t>
            </a:r>
            <a:r>
              <a:rPr lang="en-US" sz="1300" b="1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sz="1300" b="1" err="1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리포트</a:t>
            </a:r>
            <a:endParaRPr lang="en-US" sz="1300" err="1">
              <a:latin typeface="Noto Sans KR" panose="020B0200000000000000" pitchFamily="50" charset="-127"/>
              <a:ea typeface="Noto Sans KR"/>
              <a:cs typeface="Arial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537960" y="17647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커리큘럼 설계 완료 후 적용. POC는 데일리 로그 + 4주 추이로 대체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0424160" y="1764792"/>
            <a:ext cx="1143000" cy="320040"/>
          </a:xfrm>
          <a:prstGeom prst="roundRect">
            <a:avLst>
              <a:gd name="adj" fmla="val 14286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424160" y="176479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Phase 1 (2026 Q4~)</a:t>
            </a:r>
            <a:endParaRPr lang="en-US" sz="8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400800" y="242316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537960" y="24780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초기 진단 (레벨 테스트)</a:t>
            </a:r>
            <a:endParaRPr lang="en-US" sz="13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537960" y="2770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Phase 0 마일스톤에 없음. 세션 난이도 데이터로 레벨 관찰 가능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0424160" y="2770632"/>
            <a:ext cx="1143000" cy="320040"/>
          </a:xfrm>
          <a:prstGeom prst="roundRect">
            <a:avLst>
              <a:gd name="adj" fmla="val 14286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0424160" y="277063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Phase 1 (2026 Q4~)</a:t>
            </a:r>
            <a:endParaRPr lang="en-US" sz="8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400800" y="342900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537960" y="34838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튜터 선택 UX</a:t>
            </a:r>
            <a:endParaRPr lang="en-US" sz="13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537960" y="37764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파일럿은 페르소나 1~2개 고정. 선택 UX는 PMF 확인 후 추가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0424160" y="3776472"/>
            <a:ext cx="1143000" cy="320040"/>
          </a:xfrm>
          <a:prstGeom prst="roundRect">
            <a:avLst>
              <a:gd name="adj" fmla="val 14286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0424160" y="377647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Phase 1 (2026 Q4~)</a:t>
            </a:r>
            <a:endParaRPr lang="en-US" sz="8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400800" y="443484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537960" y="44897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err="1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또래</a:t>
            </a:r>
            <a:r>
              <a:rPr lang="en-US" sz="1300" b="1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sz="1300" b="1" err="1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소셜</a:t>
            </a:r>
            <a:r>
              <a:rPr lang="en-US" sz="1300" b="1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그룹 </a:t>
            </a:r>
            <a:r>
              <a:rPr lang="ko-KR" altLang="en-US" sz="1300" b="1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및</a:t>
            </a:r>
            <a:r>
              <a:rPr lang="en-US" sz="1300" b="1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ko-KR" altLang="en-US" sz="1300" b="1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보상</a:t>
            </a:r>
            <a:r>
              <a:rPr lang="en-US" sz="1300" b="1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ko-KR" altLang="en-US" sz="1300" b="1">
                <a:solidFill>
                  <a:srgbClr val="666666"/>
                </a:solidFill>
                <a:latin typeface="Noto Sans KR" panose="020B0200000000000000" pitchFamily="50" charset="-127"/>
                <a:ea typeface="Noto Sans KR"/>
                <a:cs typeface="Arial"/>
              </a:rPr>
              <a:t>시스템</a:t>
            </a:r>
            <a:endParaRPr lang="ko-KR" altLang="en-US" sz="1300" b="1">
              <a:solidFill>
                <a:srgbClr val="666666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537960" y="4782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Experience Engine P2 영역. 파일럿 데이터 확보 후 설계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10424160" y="4782312"/>
            <a:ext cx="1143000" cy="320040"/>
          </a:xfrm>
          <a:prstGeom prst="roundRect">
            <a:avLst>
              <a:gd name="adj" fmla="val 14286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10424160" y="478231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Phase 2 (2027~)</a:t>
            </a:r>
            <a:endParaRPr lang="en-US" sz="8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320040" y="5989320"/>
            <a:ext cx="11521440" cy="502920"/>
          </a:xfrm>
          <a:prstGeom prst="roundRect">
            <a:avLst>
              <a:gd name="adj" fmla="val 12308"/>
            </a:avLst>
          </a:prstGeom>
          <a:solidFill>
            <a:srgbClr val="E6F4F4"/>
          </a:solidFill>
          <a:ln w="12700">
            <a:solidFill>
              <a:srgbClr val="C2E0E0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457200" y="5964065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err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논의</a:t>
            </a: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sz="1200" b="1" err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포인트</a:t>
            </a: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 →  </a:t>
            </a:r>
            <a:r>
              <a:rPr lang="en-US" sz="1200" b="1" err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학생은</a:t>
            </a: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매 </a:t>
            </a:r>
            <a:r>
              <a:rPr lang="en-US" sz="1200" b="1" err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세션</a:t>
            </a: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sz="1200" b="1" err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성장</a:t>
            </a: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sz="1200" b="1" err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체감</a:t>
            </a: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, </a:t>
            </a:r>
            <a:r>
              <a:rPr lang="en-US" sz="1200" b="1" err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학부모는</a:t>
            </a: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sz="1200" b="1" err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데일리</a:t>
            </a: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sz="1200" b="1" err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로그</a:t>
            </a: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+ 4주 </a:t>
            </a:r>
            <a:r>
              <a:rPr lang="en-US" sz="1200" b="1" err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추이로</a:t>
            </a: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sz="1200" b="1" err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자녀</a:t>
            </a: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sz="1200" b="1" err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성장</a:t>
            </a: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sz="1200" b="1" err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확인</a:t>
            </a: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. </a:t>
            </a:r>
            <a:r>
              <a:rPr lang="en-US" sz="1200" b="1" err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핵심</a:t>
            </a: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sz="1200" b="1" err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화면</a:t>
            </a: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</a:t>
            </a:r>
            <a:r>
              <a:rPr lang="en-US" sz="1200" b="1" err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학생</a:t>
            </a: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2개 + </a:t>
            </a:r>
            <a:r>
              <a:rPr lang="en-US" sz="1200" b="1" err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학부모</a:t>
            </a: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2개. </a:t>
            </a:r>
            <a:r>
              <a:rPr lang="en-US" sz="1200" b="1" err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나머지는</a:t>
            </a: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PMF </a:t>
            </a:r>
            <a:r>
              <a:rPr lang="en-US" sz="1200" b="1" err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확인</a:t>
            </a: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 후 </a:t>
            </a:r>
            <a:r>
              <a:rPr lang="en-US" sz="1200" b="1" err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추가</a:t>
            </a:r>
            <a:r>
              <a:rPr lang="en-US" sz="1200" b="1">
                <a:solidFill>
                  <a:srgbClr val="005858"/>
                </a:solidFill>
                <a:latin typeface="Noto Sans KR" panose="020B0200000000000000" pitchFamily="50" charset="-127"/>
                <a:ea typeface="Noto Sans KR"/>
                <a:cs typeface="Arial"/>
              </a:rPr>
              <a:t>.</a:t>
            </a:r>
            <a:endParaRPr lang="en-US" sz="1200">
              <a:latin typeface="Noto Sans KR" panose="020B0200000000000000" pitchFamily="50" charset="-127"/>
              <a:ea typeface="Noto Sans KR"/>
              <a:cs typeface="Arial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AAAAA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Creverse  |  AI Biz Div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Shape 25">
            <a:extLst>
              <a:ext uri="{FF2B5EF4-FFF2-40B4-BE49-F238E27FC236}">
                <a16:creationId xmlns:a16="http://schemas.microsoft.com/office/drawing/2014/main" id="{7A1C79D5-DA46-730E-F834-F00817C4B250}"/>
              </a:ext>
            </a:extLst>
          </p:cNvPr>
          <p:cNvSpPr/>
          <p:nvPr/>
        </p:nvSpPr>
        <p:spPr>
          <a:xfrm>
            <a:off x="502920" y="4384081"/>
            <a:ext cx="5257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2E0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D9D8705B-1038-CDF1-F36D-9A7E7763388B}"/>
              </a:ext>
            </a:extLst>
          </p:cNvPr>
          <p:cNvSpPr/>
          <p:nvPr/>
        </p:nvSpPr>
        <p:spPr>
          <a:xfrm>
            <a:off x="4531941" y="4539529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007A7A"/>
          </a:solidFill>
          <a:ln w="12700">
            <a:solidFill>
              <a:srgbClr val="007A7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Text 27">
            <a:extLst>
              <a:ext uri="{FF2B5EF4-FFF2-40B4-BE49-F238E27FC236}">
                <a16:creationId xmlns:a16="http://schemas.microsoft.com/office/drawing/2014/main" id="{3F9C7608-1579-F9D0-1245-C297384A0FB2}"/>
              </a:ext>
            </a:extLst>
          </p:cNvPr>
          <p:cNvSpPr/>
          <p:nvPr/>
        </p:nvSpPr>
        <p:spPr>
          <a:xfrm>
            <a:off x="4531941" y="453952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③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" name="Text 28">
            <a:extLst>
              <a:ext uri="{FF2B5EF4-FFF2-40B4-BE49-F238E27FC236}">
                <a16:creationId xmlns:a16="http://schemas.microsoft.com/office/drawing/2014/main" id="{688CE508-60D8-26B2-62A7-04AB9A7D449C}"/>
              </a:ext>
            </a:extLst>
          </p:cNvPr>
          <p:cNvSpPr/>
          <p:nvPr/>
        </p:nvSpPr>
        <p:spPr>
          <a:xfrm>
            <a:off x="627453" y="443807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7A7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-120"/>
              </a:rPr>
              <a:t>[학부모]</a:t>
            </a:r>
            <a:endParaRPr lang="en-US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2" name="Text 29">
            <a:extLst>
              <a:ext uri="{FF2B5EF4-FFF2-40B4-BE49-F238E27FC236}">
                <a16:creationId xmlns:a16="http://schemas.microsoft.com/office/drawing/2014/main" id="{72E96E96-437C-D07F-A6EC-6B79FF68572C}"/>
              </a:ext>
            </a:extLst>
          </p:cNvPr>
          <p:cNvSpPr/>
          <p:nvPr/>
        </p:nvSpPr>
        <p:spPr>
          <a:xfrm>
            <a:off x="627453" y="4694977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050"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050" err="1">
                <a:latin typeface="Noto Sans KR" panose="020B0200000000000000" pitchFamily="50" charset="-127"/>
                <a:ea typeface="Noto Sans KR" panose="020B0200000000000000" pitchFamily="50" charset="-127"/>
              </a:rPr>
              <a:t>튜터</a:t>
            </a:r>
            <a:r>
              <a:rPr lang="ko-KR" altLang="en-US" sz="1050">
                <a:latin typeface="Noto Sans KR" panose="020B0200000000000000" pitchFamily="50" charset="-127"/>
                <a:ea typeface="Noto Sans KR" panose="020B0200000000000000" pitchFamily="50" charset="-127"/>
              </a:rPr>
              <a:t> 내부 난이도 외부 기준 난이도와 매핑 </a:t>
            </a:r>
            <a:r>
              <a:rPr lang="en-US" altLang="ko-KR" sz="105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50">
                <a:latin typeface="Noto Sans KR" panose="020B0200000000000000" pitchFamily="50" charset="-127"/>
                <a:ea typeface="Noto Sans KR" panose="020B0200000000000000" pitchFamily="50" charset="-127"/>
              </a:rPr>
              <a:t>예</a:t>
            </a:r>
            <a:r>
              <a:rPr lang="en-US" altLang="ko-KR" sz="105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50">
                <a:latin typeface="Noto Sans KR" panose="020B0200000000000000" pitchFamily="50" charset="-127"/>
                <a:ea typeface="Noto Sans KR" panose="020B0200000000000000" pitchFamily="50" charset="-127"/>
              </a:rPr>
              <a:t>전국단위 수능</a:t>
            </a:r>
            <a:r>
              <a:rPr lang="en-US" altLang="ko-KR" sz="105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050">
                <a:latin typeface="Noto Sans KR" panose="020B0200000000000000" pitchFamily="50" charset="-127"/>
                <a:ea typeface="Noto Sans KR" panose="020B0200000000000000" pitchFamily="50" charset="-127"/>
              </a:rPr>
              <a:t>내신등급</a:t>
            </a:r>
            <a:r>
              <a:rPr lang="en-US" altLang="ko-KR" sz="1050">
                <a:latin typeface="Noto Sans KR" panose="020B0200000000000000" pitchFamily="50" charset="-127"/>
                <a:ea typeface="Noto Sans KR" panose="020B0200000000000000" pitchFamily="50" charset="-127"/>
              </a:rPr>
              <a:t>, CEFR </a:t>
            </a:r>
            <a:r>
              <a:rPr lang="ko-KR" altLang="en-US" sz="1050">
                <a:latin typeface="Noto Sans KR" panose="020B0200000000000000" pitchFamily="50" charset="-127"/>
                <a:ea typeface="Noto Sans KR" panose="020B0200000000000000" pitchFamily="50" charset="-127"/>
              </a:rPr>
              <a:t>등</a:t>
            </a:r>
            <a:r>
              <a:rPr lang="en-US" altLang="ko-KR" sz="105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en-US" sz="105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b0cce65-d24b-4b78-a6d3-eeb62bd83470" xsi:nil="true"/>
    <lcf76f155ced4ddcb4097134ff3c332f xmlns="4dfdeb73-9b69-4412-99a1-65c48272ff9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6E72CFFE31649448A2D2835122ED9B1" ma:contentTypeVersion="13" ma:contentTypeDescription="새 문서를 만듭니다." ma:contentTypeScope="" ma:versionID="2627391ea316555eef325183226b45e6">
  <xsd:schema xmlns:xsd="http://www.w3.org/2001/XMLSchema" xmlns:xs="http://www.w3.org/2001/XMLSchema" xmlns:p="http://schemas.microsoft.com/office/2006/metadata/properties" xmlns:ns2="4dfdeb73-9b69-4412-99a1-65c48272ff95" xmlns:ns3="4b0cce65-d24b-4b78-a6d3-eeb62bd83470" targetNamespace="http://schemas.microsoft.com/office/2006/metadata/properties" ma:root="true" ma:fieldsID="c8dec8435c4a636bb8bdd966f25a2a71" ns2:_="" ns3:_="">
    <xsd:import namespace="4dfdeb73-9b69-4412-99a1-65c48272ff95"/>
    <xsd:import namespace="4b0cce65-d24b-4b78-a6d3-eeb62bd834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fdeb73-9b69-4412-99a1-65c48272ff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9c5d0dd0-ca9e-4c43-a764-16fe941002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0cce65-d24b-4b78-a6d3-eeb62bd83470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e03fc1a-d91e-4356-b1d5-21a5c46efd14}" ma:internalName="TaxCatchAll" ma:showField="CatchAllData" ma:web="4b0cce65-d24b-4b78-a6d3-eeb62bd834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65793A-6D7B-4A60-9020-4EFC548641D6}">
  <ds:schemaRefs>
    <ds:schemaRef ds:uri="4b0cce65-d24b-4b78-a6d3-eeb62bd83470"/>
    <ds:schemaRef ds:uri="4dfdeb73-9b69-4412-99a1-65c48272ff95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BD1C291-9925-4737-BCFC-3117F9656C90}">
  <ds:schemaRefs>
    <ds:schemaRef ds:uri="4b0cce65-d24b-4b78-a6d3-eeb62bd83470"/>
    <ds:schemaRef ds:uri="4dfdeb73-9b69-4412-99a1-65c48272ff9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4202EF5-B037-4267-A6E2-8902B8F5A59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와이드스크린</PresentationFormat>
  <Slides>5</Slides>
  <Notes>5</Notes>
  <HiddenSlides>0</HiddenSlide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Creverse AI Tutor — MVP 필수 화면 정의</dc:title>
  <dc:subject>PptxGenJS Presentation</dc:subject>
  <dc:creator>PptxGenJS</dc:creator>
  <cp:revision>2</cp:revision>
  <dcterms:created xsi:type="dcterms:W3CDTF">2026-06-24T03:50:10Z</dcterms:created>
  <dcterms:modified xsi:type="dcterms:W3CDTF">2026-07-01T01:59:48Z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0x01010046E72CFFE31649448A2D2835122ED9B1</vt:lpwstr>
  </property>
  <property fmtid="{D5CDD505-2E9C-101B-9397-08002B2CF9AE}" pid="3" name="MSIP_Label_1d23bf23-04ed-492e-9dac-0c93e9109a68_Enabled">
    <vt:lpwstr>true</vt:lpwstr>
  </property>
  <property fmtid="{D5CDD505-2E9C-101B-9397-08002B2CF9AE}" pid="4" name="MSIP_Label_1d23bf23-04ed-492e-9dac-0c93e9109a68_SetDate">
    <vt:lpwstr>2026-06-24T11:02:55Z</vt:lpwstr>
  </property>
  <property fmtid="{D5CDD505-2E9C-101B-9397-08002B2CF9AE}" pid="5" name="MSIP_Label_1d23bf23-04ed-492e-9dac-0c93e9109a68_Method">
    <vt:lpwstr>Standard</vt:lpwstr>
  </property>
  <property fmtid="{D5CDD505-2E9C-101B-9397-08002B2CF9AE}" pid="6" name="MSIP_Label_1d23bf23-04ed-492e-9dac-0c93e9109a68_Name">
    <vt:lpwstr>일반(Internal)</vt:lpwstr>
  </property>
  <property fmtid="{D5CDD505-2E9C-101B-9397-08002B2CF9AE}" pid="7" name="MSIP_Label_1d23bf23-04ed-492e-9dac-0c93e9109a68_SiteId">
    <vt:lpwstr>40dffec5-0ca8-47a0-9d25-e838a8c1dce7</vt:lpwstr>
  </property>
  <property fmtid="{D5CDD505-2E9C-101B-9397-08002B2CF9AE}" pid="8" name="MSIP_Label_1d23bf23-04ed-492e-9dac-0c93e9109a68_ActionId">
    <vt:lpwstr>7407dd64-9cb7-4aa7-8145-670235f6c330</vt:lpwstr>
  </property>
  <property fmtid="{D5CDD505-2E9C-101B-9397-08002B2CF9AE}" pid="9" name="MSIP_Label_1d23bf23-04ed-492e-9dac-0c93e9109a68_ContentBits">
    <vt:lpwstr>0</vt:lpwstr>
  </property>
  <property fmtid="{D5CDD505-2E9C-101B-9397-08002B2CF9AE}" pid="10" name="MSIP_Label_1d23bf23-04ed-492e-9dac-0c93e9109a68_Tag">
    <vt:lpwstr>10, 3, 0, 2</vt:lpwstr>
  </property>
  <property fmtid="{D5CDD505-2E9C-101B-9397-08002B2CF9AE}" pid="11" name="MediaServiceImageTags">
    <vt:lpwstr/>
  </property>
</Properties>
</file>